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linear-gradient(135deg,#1B5E20 0%,#2E7D32 55%,#66BB6A 100%)', overflow: 'hidden', position: 'relative' }}&gt;&#10;  {/* 旋转光环装饰 */}&#10;  &lt;Animation animType=&quot;spin&quot; duration={2600} startType=&quot;withPrevious&quot;&gt;&#10;    &lt;Box style={{ position: 'absolute', left: 340, top: 70, width: 600, height: 600, borderRadius: '50%', background: 'radial-gradient(circle, rgba(242,183,5,0.35) 0%, rgba(102,187,106,0.08) 45%, transparent 70%)' }} /&gt;&#10;  &lt;/Animation&gt;&#10;&#10;  {/* Logo 缩放+旋转入场 */}&#10;  &lt;Animation animType=&quot;zoom&quot; duration={900} startType=&quot;withPrevious&quot;&gt;&#10;    &lt;Image src=&quot;assets/logo.png&quot; style={{ position: 'absolute', left: 384, top: 110, width: 512, height: 512, borderRadius: 28, boxShadow: '0 24px 70px rgba(0,0,0,0.4)' }} /&gt;&#10;  &lt;/Animation&gt;&#10;&#10;  {/* 标题淡入 */}&#10;  &lt;Animation animType=&quot;fadeIn&quot; duration={700} startType=&quot;afterPrevious&quot; delay={700}&gt;&#10;    &lt;Box style={{ position: 'absolute', left: 0, top: 600, width: 1280, alignItems: 'center' }}&gt;&#10;      &lt;Text style={{ fontSize: 66, fontWeight: 'bold', color: '#FBF8EF', letterSpacing: 10 }}&gt;西米的农场&lt;/Text&gt;&#10;    &lt;/Box&gt;&#10;  &lt;/Animation&gt;&#10;&#10;  {/* 副标 */}&#10;  &lt;Animation animType=&quot;fadeIn&quot; duration={600} startType=&quot;afterPrevious&quot; delay={300}&gt;&#10;    &lt;Box style={{ position: 'absolute', left: 0, top: 668, width: 1280, alignItems: 'center' }}&gt;&#10;      &lt;Text style={{ fontSize: 22, color: '#C9E6B4', letterSpacing: 6 }}&gt;一款打开即玩的网页农场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55000">
                <a:srgbClr val="2E7D32"/>
              </a:gs>
              <a:gs pos="100000">
                <a:srgbClr val="66BB6A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" name="任意多边形 2"/>
          <p:cNvSpPr/>
          <p:nvPr/>
        </p:nvSpPr>
        <p:spPr>
          <a:xfrm>
            <a:off x="3238500" y="666750"/>
            <a:ext cx="5715000" cy="5715000"/>
          </a:xfrm>
          <a:custGeom>
            <a:avLst/>
            <a:gdLst/>
            <a:ahLst/>
            <a:cxnLst/>
            <a:pathLst>
              <a:path w="600" h="600">
                <a:moveTo>
                  <a:pt x="300" y="0"/>
                </a:moveTo>
                <a:lnTo>
                  <a:pt x="300" y="0"/>
                </a:lnTo>
                <a:cubicBezTo>
                  <a:pt x="466" y="0"/>
                  <a:pt x="600" y="134"/>
                  <a:pt x="600" y="300"/>
                </a:cubicBezTo>
                <a:lnTo>
                  <a:pt x="600" y="300"/>
                </a:lnTo>
                <a:cubicBezTo>
                  <a:pt x="600" y="466"/>
                  <a:pt x="466" y="600"/>
                  <a:pt x="300" y="600"/>
                </a:cubicBezTo>
                <a:lnTo>
                  <a:pt x="300" y="600"/>
                </a:lnTo>
                <a:cubicBezTo>
                  <a:pt x="134" y="600"/>
                  <a:pt x="0" y="466"/>
                  <a:pt x="0" y="300"/>
                </a:cubicBezTo>
                <a:lnTo>
                  <a:pt x="0" y="300"/>
                </a:lnTo>
                <a:cubicBezTo>
                  <a:pt x="0" y="134"/>
                  <a:pt x="134" y="0"/>
                  <a:pt x="300" y="0"/>
                </a:cubicBezTo>
                <a:close/>
              </a:path>
            </a:pathLst>
          </a:custGeom>
          <a:gradFill>
            <a:gsLst>
              <a:gs pos="0">
                <a:srgbClr val="F2B705">
                  <a:alpha val="35000"/>
                </a:srgbClr>
              </a:gs>
              <a:gs pos="45000">
                <a:srgbClr val="66BB6A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047750"/>
            <a:ext cx="4876800" cy="4876800"/>
          </a:xfrm>
          <a:prstGeom prst="roundRect">
            <a:avLst>
              <a:gd name="adj" fmla="val 5469"/>
            </a:avLst>
          </a:prstGeom>
          <a:effectLst>
            <a:outerShdw blurRad="666750" dist="228600" dir="5400000">
              <a:srgbClr val="000000">
                <a:alpha val="40000"/>
              </a:srgbClr>
            </a:outerShdw>
          </a:effectLst>
        </p:spPr>
      </p:pic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4286250" y="5619750"/>
            <a:ext cx="36195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 spc="750">
                <a:solidFill>
                  <a:srgbClr val="FBF8EF"/>
                </a:solidFill>
                <a:latin typeface="微软雅黑" panose="020B0503020204020204" charset="-122"/>
                <a:ea typeface="微软雅黑" panose="020B0503020204020204" charset="-122"/>
              </a:rPr>
              <a:t>西米的农场</a:t>
            </a:r>
            <a:endParaRPr lang="zh-CN" sz="4950" b="1" spc="750">
              <a:solidFill>
                <a:srgbClr val="FBF8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4629150" y="6362700"/>
            <a:ext cx="2933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C9E6B4"/>
                </a:solidFill>
                <a:latin typeface="微软雅黑" panose="020B0503020204020204" charset="-122"/>
                <a:ea typeface="微软雅黑" panose="020B0503020204020204" charset="-122"/>
              </a:rPr>
              <a:t>一款打开即玩的网页农场</a:t>
            </a:r>
            <a:endParaRPr lang="zh-CN" sz="1650" spc="450">
              <a:solidFill>
                <a:srgbClr val="C9E6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600" fill="hold"/>
                                        <p:tgtEl>
                                          <p:spTgt spid="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0" presetClass="entr" presetSubtype="0" fill="hold" grpId="2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700"/>
                            </p:stCondLst>
                            <p:childTnLst>
                              <p:par>
                                <p:cTn id="16" presetID="10" presetClass="entr" presetSubtype="0" fill="hold" grpId="3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 descr="&lt;Slide style={{ width: '1280px', height: '720px', background: '#1B5E20', overflow: 'hidden', position: 'relative' }}&gt;&#10;  &lt;Animation animType=&quot;fadeIn&quot; duration={500} startType=&quot;withPrevious&quot;&gt;&#10;    &lt;Image src=&quot;assets/farm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shop.png&quot; style={{ position: 'absolute', left: 0, top: 0, width: 1280, height: 720, objectFit: 'cover' }} /&gt;&#10;  &lt;/Animation&gt;&#10;  &lt;Animation animType=&quot;flyIn&quot; direction=&quot;bottom&quot; duration={600} startType=&quot;afterPrevious&quot; delay={1100}&gt;&#10;    &lt;Image src=&quot;assets/bag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打开即玩 · 无需下载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</p:spPr>
        <p:txBody>
          <a:bodyPr/>
          <a:p/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t="10000"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t="37003" b="37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37003" b="37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圆角矩形 19"/>
          <p:cNvSpPr/>
          <p:nvPr/>
        </p:nvSpPr>
        <p:spPr>
          <a:xfrm>
            <a:off x="3990975" y="5657850"/>
            <a:ext cx="4210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990975" y="5657850"/>
            <a:ext cx="4210050" cy="685800"/>
          </a:xfrm>
          <a:prstGeom prst="rect">
            <a:avLst/>
          </a:prstGeom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打开即玩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无需下载</a:t>
            </a:r>
            <a:endParaRPr lang="zh-CN" sz="2700" b="1" spc="300">
              <a:solidFill>
                <a:srgbClr val="FBF8EF"/>
              </a:solidFill>
              <a:effectLst>
                <a:outerShdw blurRad="114300" dist="19050" dir="5400000">
                  <a:srgbClr val="000000">
                    <a:alpha val="5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2" presetClass="entr" presetSubtype="4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00"/>
                            </p:stCondLst>
                            <p:childTnLst>
                              <p:par>
                                <p:cTn id="22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 descr="&lt;Slide style={{ width: '1280px', height: '720px', background: '#1B5E20', overflow: 'hidden', position: 'relative' }}&gt;&#10;  &lt;Animation animType=&quot;flyIn&quot; direction=&quot;bottom&quot; duration={600} startType=&quot;withPrevious&quot;&gt;&#10;    &lt;Image src=&quot;assets/shop.png&quot; style={{ position: 'absolute', left: 0, top: 0, width: 1280, height: 720, objectFit: 'cover' }} /&gt;&#10;  &lt;/Animation&gt;&#10;  &lt;Animation animType=&quot;fadeIn&quot; duration={500} startType=&quot;afterPrevious&quot; delay={1100}&gt;&#10;    &lt;Image src=&quot;assets/farm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bag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6, textShadow: '0 2px 12px rgba(0,0,0,0.5)' }}&gt;种 · 养 · 收 · 卖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</p:spPr>
        <p:txBody>
          <a:bodyPr/>
          <a:p/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 t="37003" b="37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rcRect t="10000"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t="37003" b="37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圆角矩形 26"/>
          <p:cNvSpPr/>
          <p:nvPr/>
        </p:nvSpPr>
        <p:spPr>
          <a:xfrm>
            <a:off x="4162425" y="5657850"/>
            <a:ext cx="38671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4162425" y="5657850"/>
            <a:ext cx="3867150" cy="685800"/>
          </a:xfrm>
          <a:prstGeom prst="rect">
            <a:avLst/>
          </a:prstGeom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种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养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收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卖</a:t>
            </a:r>
            <a:endParaRPr lang="zh-CN" sz="2700" b="1" spc="450">
              <a:solidFill>
                <a:srgbClr val="FBF8EF"/>
              </a:solidFill>
              <a:effectLst>
                <a:outerShdw blurRad="114300" dist="19050" dir="5400000">
                  <a:srgbClr val="000000">
                    <a:alpha val="5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2" presetClass="entr" presetSubtype="2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00"/>
                            </p:stCondLst>
                            <p:childTnLst>
                              <p:par>
                                <p:cTn id="22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 descr="&lt;Slide style={{ width: '1280px', height: '720px', background: '#1B5E20', overflow: 'hidden', position: 'relative' }}&gt;&#10;  &lt;Animation animType=&quot;fadeIn&quot; duration={500} startType=&quot;withPrevious&quot;&gt;&#10;    &lt;Image src=&quot;assets/neighbor.png&quot; style={{ position: 'absolute', left: 0, top: 0, width: 1280, height: 720, objectFit: 'cover' }} /&gt;&#10;  &lt;/Animation&gt;&#10;  &lt;Animation animType=&quot;zoom&quot; duration={650} startType=&quot;afterPrevious&quot; delay={1100}&gt;&#10;    &lt;Image src=&quot;assets/promo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log_npc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串门 · 偷菜 · 送礼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</p:spPr>
        <p:txBody>
          <a:bodyPr/>
          <a:p/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t="10000"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 l="348" r="3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圆角矩形 33"/>
          <p:cNvSpPr/>
          <p:nvPr/>
        </p:nvSpPr>
        <p:spPr>
          <a:xfrm>
            <a:off x="4143375" y="5657850"/>
            <a:ext cx="3914775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4143375" y="5657850"/>
            <a:ext cx="3914775" cy="685800"/>
          </a:xfrm>
          <a:prstGeom prst="rect">
            <a:avLst/>
          </a:prstGeom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串门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偷菜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送礼</a:t>
            </a:r>
            <a:endParaRPr lang="zh-CN" sz="2700" b="1" spc="300">
              <a:solidFill>
                <a:srgbClr val="FBF8EF"/>
              </a:solidFill>
              <a:effectLst>
                <a:outerShdw blurRad="114300" dist="19050" dir="5400000">
                  <a:srgbClr val="000000">
                    <a:alpha val="5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16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2" presetClass="entr" presetSubtype="2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00"/>
                            </p:stCondLst>
                            <p:childTnLst>
                              <p:par>
                                <p:cTn id="22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 descr="&lt;Slide style={{ width: '1280px', height: '720px', background: '#1B5E20', overflow: 'hidden', position: 'relative' }}&gt;&#10;  &lt;Animation animType=&quot;fadeIn&quot; duration={500} startType=&quot;withPrevious&quot;&gt;&#10;    &lt;Image src=&quot;assets/log_farm.png&quot; style={{ position: 'absolute', left: 0, top: 0, width: 1280, height: 720, objectFit: 'cover' }} /&gt;&#10;  &lt;/Animation&gt;&#10;  &lt;Animation animType=&quot;zoom&quot; duration={600} startType=&quot;afterPrevious&quot; delay={900}&gt;&#10;    &lt;Box style={{ position: 'absolute', right: 230, top: 250, width: 132, height: 132, borderRadius: '50%', background: 'rgba(242,183,5,0.92)', alignItems: 'center', justifyContent: 'center', boxShadow: '0 10px 30px rgba(0,0,0,0.35)' }}&gt;&#10;      &lt;Text style={{ fontSize: 70 }}&gt;🐕&lt;/Text&gt;&#10;    &lt;/Box&gt;&#10;  &lt;/Animation&gt;&#10;  &lt;Animation animType=&quot;pulse&quot; duration={900} startType=&quot;afterPrevious&quot; delay={500}&gt;&#10;    &lt;Box style={{ position: 'absolute', right: 150, top: 388, background: 'rgba(20,50,20,0.78)', padding: '8px 20px', borderRadius: 999 }}&gt;&#10;      &lt;Text style={{ fontSize: 26, fontWeight: 'bold', color: '#FBF8EF' }}&gt;看家护院&lt;/Text&gt;&#10;    &lt;/Box&gt;&#10;  &lt;/Animation&gt;&#10;  &lt;Animation animType=&quot;fadeIn&quot; duration={600} startType=&quot;afterPrevious&quot; delay={5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守护犬 · 拦得住的小偷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</p:spPr>
        <p:txBody>
          <a:bodyPr/>
          <a:p/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rcRect t="10000"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任意多边形 38"/>
          <p:cNvSpPr/>
          <p:nvPr/>
        </p:nvSpPr>
        <p:spPr>
          <a:xfrm>
            <a:off x="8743950" y="2381250"/>
            <a:ext cx="1257300" cy="1257300"/>
          </a:xfrm>
          <a:custGeom>
            <a:avLst/>
            <a:gdLst/>
            <a:ahLst/>
            <a:cxnLst/>
            <a:pathLst>
              <a:path w="132" h="132">
                <a:moveTo>
                  <a:pt x="66" y="0"/>
                </a:moveTo>
                <a:lnTo>
                  <a:pt x="66" y="0"/>
                </a:lnTo>
                <a:cubicBezTo>
                  <a:pt x="102" y="0"/>
                  <a:pt x="132" y="30"/>
                  <a:pt x="132" y="66"/>
                </a:cubicBezTo>
                <a:lnTo>
                  <a:pt x="132" y="66"/>
                </a:lnTo>
                <a:cubicBezTo>
                  <a:pt x="132" y="102"/>
                  <a:pt x="102" y="132"/>
                  <a:pt x="66" y="132"/>
                </a:cubicBezTo>
                <a:lnTo>
                  <a:pt x="66" y="132"/>
                </a:lnTo>
                <a:cubicBezTo>
                  <a:pt x="30" y="132"/>
                  <a:pt x="0" y="102"/>
                  <a:pt x="0" y="66"/>
                </a:cubicBezTo>
                <a:lnTo>
                  <a:pt x="0" y="66"/>
                </a:lnTo>
                <a:cubicBezTo>
                  <a:pt x="0" y="30"/>
                  <a:pt x="30" y="0"/>
                  <a:pt x="66" y="0"/>
                </a:cubicBezTo>
                <a:close/>
              </a:path>
            </a:pathLst>
          </a:custGeom>
          <a:solidFill>
            <a:srgbClr val="F2B705">
              <a:alpha val="92000"/>
            </a:srgbClr>
          </a:solidFill>
          <a:effectLst>
            <a:outerShdw blurRad="285750" dist="9525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8915400" y="2609850"/>
            <a:ext cx="923925" cy="800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52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🐕</a:t>
            </a:r>
            <a:endParaRPr sz="525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9391650" y="3695700"/>
            <a:ext cx="1371600" cy="457200"/>
          </a:xfrm>
          <a:prstGeom prst="roundRect">
            <a:avLst>
              <a:gd name="adj" fmla="val 2081250"/>
            </a:avLst>
          </a:prstGeom>
          <a:solidFill>
            <a:srgbClr val="143214">
              <a:alpha val="78000"/>
            </a:srgbClr>
          </a:solidFill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9582150" y="3771900"/>
            <a:ext cx="990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BF8EF"/>
                </a:solidFill>
                <a:latin typeface="微软雅黑" panose="020B0503020204020204" charset="-122"/>
                <a:ea typeface="微软雅黑" panose="020B0503020204020204" charset="-122"/>
              </a:rPr>
              <a:t>看家护院</a:t>
            </a:r>
            <a:endParaRPr lang="zh-CN" sz="1950" b="1">
              <a:solidFill>
                <a:srgbClr val="FBF8E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800475" y="5657850"/>
            <a:ext cx="4591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3800475" y="5657850"/>
            <a:ext cx="4591050" cy="685800"/>
          </a:xfrm>
          <a:prstGeom prst="rect">
            <a:avLst/>
          </a:prstGeom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守护犬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拦得住的小偷</a:t>
            </a:r>
            <a:endParaRPr lang="zh-CN" sz="2700" b="1" spc="300">
              <a:solidFill>
                <a:srgbClr val="FBF8EF"/>
              </a:solidFill>
              <a:effectLst>
                <a:outerShdw blurRad="114300" dist="19050" dir="5400000">
                  <a:srgbClr val="000000">
                    <a:alpha val="5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3" dur="450" fill="hold"/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42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grpId="1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00"/>
                            </p:stCondLst>
                            <p:childTnLst>
                              <p:par>
                                <p:cTn id="24" presetID="26" presetClass="emph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5" dur="450" fill="hold"/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Scale>
                                      <p:cBhvr>
                                        <p:cTn id="26" dur="450" fill="hold"/>
                                        <p:tgtEl>
                                          <p:spTgt spid="41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400"/>
                            </p:stCondLst>
                            <p:childTnLst>
                              <p:par>
                                <p:cTn id="28" presetID="10" presetClass="entr" presetSubtype="0" fill="hold" grpId="3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 descr="&lt;Slide style={{ width: '1280px', height: '720px', background: '#1B5E20', overflow: 'hidden', position: 'relative' }}&gt;&#10;  &lt;Animation animType=&quot;flip&quot; duration={650} startType=&quot;withPrevious&quot;&gt;&#10;    &lt;Image src=&quot;assets/bag.png&quot; style={{ position: 'absolute', left: 0, top: 0, width: 1280, height: 720, objectFit: 'cover' }} /&gt;&#10;  &lt;/Animation&gt;&#10;  &lt;Animation animType=&quot;fadeIn&quot; duration={500} startType=&quot;afterPrevious&quot; delay={1100}&gt;&#10;    &lt;Image src=&quot;assets/promo.png&quot; style={{ position: 'absolute', left: 0, top: 0, width: 1280, height: 720, objectFit: 'cover' }} /&gt;&#10;  &lt;/Animation&gt;&#10;  &lt;Animation animType=&quot;flyIn&quot; direction=&quot;left&quot; duration={600} startType=&quot;afterPrevious&quot; delay={1100}&gt;&#10;    &lt;Image src=&quot;assets/log_mine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藏宝图 · 限定种子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</p:spPr>
        <p:txBody>
          <a:bodyPr/>
          <a:p/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rcRect t="37003" b="37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"/>
          <a:srcRect l="348" r="3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圆角矩形 49"/>
          <p:cNvSpPr/>
          <p:nvPr/>
        </p:nvSpPr>
        <p:spPr>
          <a:xfrm>
            <a:off x="4181475" y="5657850"/>
            <a:ext cx="3829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4181475" y="5657850"/>
            <a:ext cx="3829050" cy="685800"/>
          </a:xfrm>
          <a:prstGeom prst="rect">
            <a:avLst/>
          </a:prstGeom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藏宝图</a:t>
            </a:r>
            <a:r>
              <a:rPr lang="en-US" sz="2700" b="1" spc="300">
                <a:solidFill>
                  <a:srgbClr val="FBF8E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300">
                <a:solidFill>
                  <a:srgbClr val="FBF8E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限定种子</a:t>
            </a:r>
            <a:endParaRPr lang="zh-CN" sz="2700" b="1" spc="300">
              <a:solidFill>
                <a:srgbClr val="FBF8E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108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9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00"/>
                            </p:stCondLst>
                            <p:childTnLst>
                              <p:par>
                                <p:cTn id="23" presetID="2" presetClass="entr" presetSubtype="8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700"/>
                            </p:stCondLst>
                            <p:childTnLst>
                              <p:par>
                                <p:cTn id="28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 descr="&lt;Slide style={{ width: '1280px', height: '720px', background: '#1B5E20', overflow: 'hidden', position: 'relative' }}&gt;&#10;  &lt;Animation animType=&quot;flyIn&quot; direction=&quot;right&quot; duration={600} startType=&quot;withPrevious&quot;&gt;&#10;    &lt;Image src=&quot;assets/log_npc.png&quot; style={{ position: 'absolute', left: 0, top: 0, width: 1280, height: 720, objectFit: 'cover' }} /&gt;&#10;  &lt;/Animation&gt;&#10;  &lt;Animation animType=&quot;flyIn&quot; direction=&quot;bottom&quot; duration={600} startType=&quot;afterPrevious&quot; delay={2200}&gt;&#10;    &lt;Image src=&quot;assets/log_mine.png&quot; style={{ position: 'absolute', left: 0, top: 0, width: 1280, height: 720, objectFit: 'cover' }} /&gt;&#10;  &lt;/Animation&gt;&#10;  &lt;Animation animType=&quot;fadeIn&quot; duration={600} startType=&quot;afterPrevious&quot; delay={8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村庄升级 · 每日排行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</p:spPr>
        <p:txBody>
          <a:bodyPr/>
          <a:p/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rcRect t="10000"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rcRect t="10000"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6" name="圆角矩形 55"/>
          <p:cNvSpPr/>
          <p:nvPr/>
        </p:nvSpPr>
        <p:spPr>
          <a:xfrm>
            <a:off x="3990975" y="5657850"/>
            <a:ext cx="4210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</p:spPr>
        <p:txBody>
          <a:bodyPr/>
          <a:p/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3990975" y="5657850"/>
            <a:ext cx="4210050" cy="685800"/>
          </a:xfrm>
          <a:prstGeom prst="rect">
            <a:avLst/>
          </a:prstGeom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村庄升级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每日排行</a:t>
            </a:r>
            <a:endParaRPr lang="zh-CN" sz="2700" b="1" spc="300">
              <a:solidFill>
                <a:srgbClr val="FBF8EF"/>
              </a:solidFill>
              <a:effectLst>
                <a:outerShdw blurRad="114300" dist="19050" dir="5400000">
                  <a:srgbClr val="000000">
                    <a:alpha val="5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1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200"/>
                            </p:stCondLst>
                            <p:childTnLst>
                              <p:par>
                                <p:cTn id="18" presetID="10" presetClass="entr" presetSubtype="0" fill="hold" grpId="2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 descr="&lt;Slide style={{ width: '1280px', height: '720px', background: 'linear-gradient(135deg,#1B5E20 0%,#2E7D32 60%,#66BB6A 100%)', overflow: 'hidden', position: 'relative' }}&gt;&#10;  &lt;Animation animType=&quot;zoom&quot; duration={600} startType=&quot;withPrevious&quot;&gt;&#10;    &lt;Box style={{ position: 'absolute', left: 265, top: 270, width: 210, background: 'rgba(251,248,239,0.95)', borderRadius: 20, padding: '26px 0', alignItems: 'center', boxShadow: '0 14px 40px rgba(0,0,0,0.3)' }}&gt;&#10;      &lt;Text style={{ fontSize: 56 }}&gt;🌱&lt;/Text&gt;&#10;      &lt;Text style={{ fontSize: 28, fontWeight: 'bold', color: '#1B5E20', marginTop: 8 }}&gt;零构建&lt;/Text&gt;&#10;    &lt;/Box&gt;&#10;  &lt;/Animation&gt;&#10;  &lt;Animation animType=&quot;zoom&quot; duration={600} startType=&quot;afterPrevious&quot; delay={1200}&gt;&#10;    &lt;Box style={{ position: 'absolute', left: 535, top: 270, width: 210, background: 'rgba(251,248,239,0.95)', borderRadius: 20, padding: '26px 0', alignItems: 'center', boxShadow: '0 14px 40px rgba(0,0,0,0.3)' }}&gt;&#10;      &lt;Text style={{ fontSize: 56 }}&gt;⚡&lt;/Text&gt;&#10;      &lt;Text style={{ fontSize: 28, fontWeight: 'bold', color: '#1B5E20', marginTop: 8 }}&gt;PWA&lt;/Text&gt;&#10;    &lt;/Box&gt;&#10;  &lt;/Animation&gt;&#10;  &lt;Animation animType=&quot;zoom&quot; duration={600} startType=&quot;afterPrevious&quot; delay={1200}&gt;&#10;    &lt;Box style={{ position: 'absolute', left: 805, top: 270, width: 210, background: 'rgba(251,248,239,0.95)', borderRadius: 20, padding: '26px 0', alignItems: 'center', boxShadow: '0 14px 40px rgba(0,0,0,0.3)' }}&gt;&#10;      &lt;Text style={{ fontSize: 56 }}&gt;🔗&lt;/Text&gt;&#10;      &lt;Text style={{ fontSize: 28, fontWeight: 'bold', color: '#1B5E20', marginTop: 8 }}&gt;联机&lt;/Text&gt;&#10;    &lt;/Box&gt;&#10;  &lt;/Animation&gt;&#10;  &lt;Animation animType=&quot;fadeIn&quot; duration={600} startType=&quot;afterPrevious&quot; delay={700}&gt;&#10;    &lt;Box style={{ position: 'absolute', left: 0, bottom: 90, width: 1280, alignItems: 'center' }}&gt;&#10;      &lt;Text style={{ fontSize: 40, fontWeight: 'bold', color: '#FBF8EF', letterSpacing: 6, textShadow: '0 2px 12px rgba(0,0,0,0.5)' }}&gt;打开就能玩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60000">
                <a:srgbClr val="2E7D32"/>
              </a:gs>
              <a:gs pos="100000">
                <a:srgbClr val="66BB6A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60" name="圆角矩形 59"/>
          <p:cNvSpPr/>
          <p:nvPr/>
        </p:nvSpPr>
        <p:spPr>
          <a:xfrm>
            <a:off x="252412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3162300" y="2819400"/>
            <a:ext cx="73342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🌱</a:t>
            </a:r>
            <a:endParaRPr sz="4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3124200" y="3543300"/>
            <a:ext cx="8001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零构建</a:t>
            </a:r>
            <a:endParaRPr lang="zh-CN" sz="21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509587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5734050" y="2819400"/>
            <a:ext cx="73342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⚡</a:t>
            </a:r>
            <a:endParaRPr sz="4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5762625" y="3543300"/>
            <a:ext cx="6667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PWA</a:t>
            </a:r>
            <a:endParaRPr lang="en-US" sz="21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766762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305800" y="2819400"/>
            <a:ext cx="73342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🔗</a:t>
            </a:r>
            <a:endParaRPr sz="4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401050" y="3543300"/>
            <a:ext cx="5334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联机</a:t>
            </a:r>
            <a:endParaRPr lang="zh-CN" sz="21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5000625" y="5543550"/>
            <a:ext cx="21907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打开就能玩</a:t>
            </a:r>
            <a:endParaRPr lang="zh-CN" sz="3000" b="1" spc="450">
              <a:solidFill>
                <a:srgbClr val="FBF8EF"/>
              </a:solidFill>
              <a:effectLst>
                <a:outerShdw blurRad="114300" dist="19050" dir="5400000">
                  <a:srgbClr val="000000">
                    <a:alpha val="5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3" presetClass="entr" presetSubtype="16" fill="hold" grpId="1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23" presetClass="entr" presetSubtype="16" fill="hold" grpId="2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400"/>
                            </p:stCondLst>
                            <p:childTnLst>
                              <p:par>
                                <p:cTn id="44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 descr="&lt;Slide style={{ width: '1280px', height: '720px', background: 'linear-gradient(135deg,#145A1B 0%,#2E7D32 50%,#43A047 100%)', overflow: 'hidden', position: 'relative' }}&gt;&#10;  &lt;Animation animType=&quot;spin&quot; duration={3000} startType=&quot;withPrevious&quot;&gt;&#10;    &lt;Box style={{ position: 'absolute', left: 340, top: 40, width: 600, height: 600, borderRadius: '50%', background: 'radial-gradient(circle, rgba(242,183,5,0.18) 0%, transparent 65%)' }} /&gt;&#10;  &lt;/Animation&gt;&#10;  &lt;Animation animType=&quot;zoom&quot; duration={900} startType=&quot;withPrevious&quot;&gt;&#10;    &lt;Box style={{ position: 'absolute', left: 0, top: 210, width: 1280, alignItems: 'center' }}&gt;&#10;      &lt;Text style={{ fontSize: 72, fontWeight: 'bold', color: '#FBF8EF', letterSpacing: 8, textShadow: '0 4px 24px rgba(0,0,0,0.45)' }}&gt;打开就能玩&lt;/Text&gt;&#10;      &lt;Text style={{ fontSize: 72, fontWeight: 'bold', color: '#F2B705', letterSpacing: 8, marginTop: 18, textShadow: '0 4px 24px rgba(0,0,0,0.45)' }}&gt;关掉接着玩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5A1B"/>
              </a:gs>
              <a:gs pos="50000">
                <a:srgbClr val="2E7D32"/>
              </a:gs>
              <a:gs pos="100000">
                <a:srgbClr val="43A047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2" name="任意多边形 71"/>
          <p:cNvSpPr/>
          <p:nvPr/>
        </p:nvSpPr>
        <p:spPr>
          <a:xfrm>
            <a:off x="3238500" y="381000"/>
            <a:ext cx="5715000" cy="5715000"/>
          </a:xfrm>
          <a:custGeom>
            <a:avLst/>
            <a:gdLst/>
            <a:ahLst/>
            <a:cxnLst/>
            <a:pathLst>
              <a:path w="600" h="600">
                <a:moveTo>
                  <a:pt x="300" y="0"/>
                </a:moveTo>
                <a:lnTo>
                  <a:pt x="300" y="0"/>
                </a:lnTo>
                <a:cubicBezTo>
                  <a:pt x="466" y="0"/>
                  <a:pt x="600" y="134"/>
                  <a:pt x="600" y="300"/>
                </a:cubicBezTo>
                <a:lnTo>
                  <a:pt x="600" y="300"/>
                </a:lnTo>
                <a:cubicBezTo>
                  <a:pt x="600" y="466"/>
                  <a:pt x="466" y="600"/>
                  <a:pt x="300" y="600"/>
                </a:cubicBezTo>
                <a:lnTo>
                  <a:pt x="300" y="600"/>
                </a:lnTo>
                <a:cubicBezTo>
                  <a:pt x="134" y="600"/>
                  <a:pt x="0" y="466"/>
                  <a:pt x="0" y="300"/>
                </a:cubicBezTo>
                <a:lnTo>
                  <a:pt x="0" y="300"/>
                </a:lnTo>
                <a:cubicBezTo>
                  <a:pt x="0" y="134"/>
                  <a:pt x="134" y="0"/>
                  <a:pt x="300" y="0"/>
                </a:cubicBezTo>
                <a:close/>
              </a:path>
            </a:pathLst>
          </a:custGeom>
          <a:gradFill>
            <a:gsLst>
              <a:gs pos="0">
                <a:srgbClr val="F2B705">
                  <a:alpha val="18000"/>
                </a:srgbClr>
              </a:gs>
              <a:gs pos="65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4191000" y="2000250"/>
            <a:ext cx="38100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600">
                <a:solidFill>
                  <a:srgbClr val="FBF8EF"/>
                </a:solidFill>
                <a:effectLst>
                  <a:outerShdw blurRad="228600" dist="38100" dir="5400000">
                    <a:srgbClr val="000000">
                      <a:alpha val="4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打开就能玩</a:t>
            </a:r>
            <a:endParaRPr lang="zh-CN" sz="5400" b="1" spc="600">
              <a:solidFill>
                <a:srgbClr val="FBF8EF"/>
              </a:solidFill>
              <a:effectLst>
                <a:outerShdw blurRad="228600" dist="38100" dir="5400000">
                  <a:srgbClr val="000000">
                    <a:alpha val="4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4191000" y="3000375"/>
            <a:ext cx="38100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600">
                <a:solidFill>
                  <a:srgbClr val="F2B705"/>
                </a:solidFill>
                <a:effectLst>
                  <a:outerShdw blurRad="228600" dist="38100" dir="5400000">
                    <a:srgbClr val="000000">
                      <a:alpha val="4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关掉接着玩</a:t>
            </a:r>
            <a:endParaRPr lang="zh-CN" sz="5400" b="1" spc="600">
              <a:solidFill>
                <a:srgbClr val="F2B705"/>
              </a:solidFill>
              <a:effectLst>
                <a:outerShdw blurRad="228600" dist="38100" dir="5400000">
                  <a:srgbClr val="000000">
                    <a:alpha val="4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7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9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9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 descr="&lt;Slide style={{ width: '1280px', height: '720px', background: 'linear-gradient(135deg,#1B5E20 0%,#2E7D32 55%,#66BB6A 100%)', overflow: 'hidden', position: 'relative' }}&gt;&#10;  &lt;Animation animType=&quot;zoom&quot; duration={800} startType=&quot;withPrevious&quot;&gt;&#10;    &lt;Image src=&quot;assets/logo.png&quot; style={{ position: 'absolute', left: 540, top: 70, width: 200, height: 200, borderRadius: 22, boxShadow: '0 18px 50px rgba(0,0,0,0.4)' }} /&gt;&#10;  &lt;/Animation&gt;&#10;  &lt;Animation animType=&quot;fadeIn&quot; duration={600} startType=&quot;afterPrevious&quot; delay={700}&gt;&#10;    &lt;Box style={{ position: 'absolute', left: 540, top: 300, width: 200, height: 200, borderRadius: 18, background: '#FBF8EF', alignItems: 'center', justifyContent: 'center', boxShadow: '0 14px 40px rgba(0,0,0,0.35)' }}&gt;&#10;      &lt;Text style={{ fontSize: 40 }}&gt;📱&lt;/Text&gt;&#10;      &lt;Text style={{ fontSize: 22, fontWeight: 'bold', color: '#1B5E20', marginTop: 6 }}&gt;扫码即玩&lt;/Text&gt;&#10;    &lt;/Box&gt;&#10;  &lt;/Animation&gt;&#10;  &lt;Animation animType=&quot;fadeIn&quot; duration={600} startType=&quot;afterPrevious&quot; delay={500}&gt;&#10;    &lt;Box style={{ position: 'absolute', left: 0, top: 540, width: 1280, alignItems: 'center' }}&gt;&#10;      &lt;Text style={{ fontSize: 46, fontWeight: 'bold', color: '#FBF8EF', letterSpacing: 6, textShadow: '0 2px 12px rgba(0,0,0,0.5)' }}&gt;打开即玩 · 扫码即上&lt;/Text&gt;&#10;    &lt;/Box&gt;&#10;  &lt;/Animation&gt;&#10;  &lt;Animation animType=&quot;fadeIn&quot; duration={500} startType=&quot;afterPrevious&quot; delay={400}&gt;&#10;    &lt;Box style={{ position: 'absolute', left: 0, top: 612, width: 1280, alignItems: 'center' }}&gt;&#10;      &lt;Text style={{ fontSize: 22, color: '#C9E6B4', letterSpacing: 4 }}&gt;浏览器搜「西米的农场」即可开始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55000">
                <a:srgbClr val="2E7D32"/>
              </a:gs>
              <a:gs pos="100000">
                <a:srgbClr val="66BB6A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666750"/>
            <a:ext cx="1905000" cy="1905000"/>
          </a:xfrm>
          <a:prstGeom prst="roundRect">
            <a:avLst>
              <a:gd name="adj" fmla="val 11000"/>
            </a:avLst>
          </a:prstGeom>
          <a:effectLst>
            <a:outerShdw blurRad="476250" dist="171450" dir="5400000">
              <a:srgbClr val="000000">
                <a:alpha val="40000"/>
              </a:srgbClr>
            </a:outerShdw>
          </a:effectLst>
        </p:spPr>
      </p:pic>
      <p:sp>
        <p:nvSpPr>
          <p:cNvPr id="10" name="圆角矩形 9"/>
          <p:cNvSpPr/>
          <p:nvPr/>
        </p:nvSpPr>
        <p:spPr>
          <a:xfrm>
            <a:off x="5143500" y="2857500"/>
            <a:ext cx="1905000" cy="1905000"/>
          </a:xfrm>
          <a:prstGeom prst="roundRect">
            <a:avLst>
              <a:gd name="adj" fmla="val 9000"/>
            </a:avLst>
          </a:prstGeom>
          <a:solidFill>
            <a:srgbClr val="FBF8EF"/>
          </a:solidFill>
          <a:effectLst>
            <a:outerShdw blurRad="381000" dist="13335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838825" y="3429000"/>
            <a:ext cx="52387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📱</a:t>
            </a:r>
            <a:endParaRPr sz="3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5676900" y="3943350"/>
            <a:ext cx="838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扫码即玩</a:t>
            </a:r>
            <a:endParaRPr lang="zh-CN" sz="165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3800475" y="5143500"/>
            <a:ext cx="45910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打开即玩</a:t>
            </a:r>
            <a:r>
              <a:rPr lang="en-US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扫码即上</a:t>
            </a:r>
            <a:endParaRPr lang="zh-CN" sz="3450" b="1" spc="450">
              <a:solidFill>
                <a:srgbClr val="FBF8EF"/>
              </a:solidFill>
              <a:effectLst>
                <a:outerShdw blurRad="114300" dist="19050" dir="5400000">
                  <a:srgbClr val="000000">
                    <a:alpha val="5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238625" y="582930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300">
                <a:solidFill>
                  <a:srgbClr val="C9E6B4"/>
                </a:solidFill>
                <a:latin typeface="微软雅黑" panose="020B0503020204020204" charset="-122"/>
                <a:ea typeface="微软雅黑" panose="020B0503020204020204" charset="-122"/>
              </a:rPr>
              <a:t>浏览器搜「西米的农场」即可开始</a:t>
            </a:r>
            <a:endParaRPr lang="zh-CN" sz="1650" spc="300">
              <a:solidFill>
                <a:srgbClr val="C9E6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1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00"/>
                            </p:stCondLst>
                            <p:childTnLst>
                              <p:par>
                                <p:cTn id="20" presetID="10" presetClass="entr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00"/>
                            </p:stCondLst>
                            <p:childTnLst>
                              <p:par>
                                <p:cTn id="24" presetID="10" presetClass="entr" presetSubtype="0" fill="hold" grpId="3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/>
  <Paragraphs>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Verlif</cp:lastModifiedBy>
  <cp:revision>1</cp:revision>
  <dcterms:created xsi:type="dcterms:W3CDTF">2026-10-27T03:55:17Z</dcterms:created>
  <dcterms:modified xsi:type="dcterms:W3CDTF">2026-10-27T03:55:17Z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{"AIGC":{"Label":"1","ContentProducer":"00119111010856365494821B355","ProduceID":"01a17b5d5b6c702a97c4b089e7cec482","ReservedCode1":"","ContentPropagator":"00119111010856365494821B355","PropagateID":"01a17b5d5b6c702a97c4b089e7cec482","ReservedCode2":""}}</vt:lpwstr>
  </property>
  <property fmtid="{D5CDD505-2E9C-101B-9397-08002B2CF9AE}" pid="3" name="ICV">
    <vt:lpwstr>531E3AB57F5C4D3F914FA51F05FDCF10_13</vt:lpwstr>
  </property>
  <property fmtid="{D5CDD505-2E9C-101B-9397-08002B2CF9AE}" pid="4" name="KSOProductBuildVer">
    <vt:lpwstr>2052-12.1.0.28802</vt:lpwstr>
  </property>
</Properties>
</file>