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5" Type="http://schemas.openxmlformats.org/officeDocument/2006/relationships/tableStyles" Target="tableStyles.xml" /><Relationship Id="rId9" Type="http://schemas.openxmlformats.org/officeDocument/2006/relationships/slide" Target="slides/slide9.xml" /><Relationship Id="rId13" Type="http://schemas.openxmlformats.org/officeDocument/2006/relationships/notesMaster" Target="notesMasters/notesMaster1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4" Type="http://schemas.openxmlformats.org/officeDocument/2006/relationships/presProps" Target="presProps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png" /><Relationship Id="rId2" Type="http://schemas.openxmlformats.org/officeDocument/2006/relationships/image" Target="media/image5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png" /><Relationship Id="rId2" Type="http://schemas.openxmlformats.org/officeDocument/2006/relationships/image" Target="media/image5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png" /><Relationship Id="rId2" Type="http://schemas.openxmlformats.org/officeDocument/2006/relationships/image" Target="media/image5.svg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1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5.svg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2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5.svg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3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5.svg" /></Relationships>
</file>

<file path=ppt/slides/_rels/slide10.xml.rels><?xml version="1.0" encoding="UTF-8" standalone="yes"?><Relationships xmlns="http://schemas.openxmlformats.org/package/2006/relationships"><Relationship Id="rId2" Type="http://schemas.openxmlformats.org/officeDocument/2006/relationships/image" Target="media/image3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Relationship Id="rId3" Type="http://schemas.openxmlformats.org/officeDocument/2006/relationships/image" Target="media/image4.svg" /><Relationship Id="rId4" Type="http://schemas.openxmlformats.org/officeDocument/2006/relationships/image" Target="media/image5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background: 'linear-gradient(155deg, #2E9E5B 0%, #3FB56B 55%, #57C277 100%)', padding: 60, display: 'flex', flexDirection: 'column', alignItems: 'center', justifyContent: 'center' }}&gt;&#10;  &lt;Animation animType=&quot;zoom&quot; duration={700}&gt;&#10;    &lt;Box style={{ width: 150, height: 150, alignItems: 'center', justifyContent: 'center', marginBottom: 18 }}&gt;&#10;      &lt;svg width=&quot;130&quot; height=&quot;130&quot; viewBox=&quot;0 0 100 100&quot;&gt;&#10;        &lt;path d=&quot;M50 94 V44&quot; stroke=&quot;#FFFFFF&quot; strokeWidth=&quot;5&quot; strokeLinecap=&quot;round&quot; fill=&quot;none&quot; /&gt;&#10;        &lt;path d=&quot;M50 60 C28 60 16 45 16 30 C36 30 50 43 50 60 Z&quot; fill=&quot;#FFFFFF&quot; /&gt;&#10;        &lt;path d=&quot;M50 52 C72 52 84 37 84 22 C64 22 50 35 50 52 Z&quot; fill=&quot;#FFFFFF&quot; /&gt;&#10;        &lt;circle cx=&quot;50&quot; cy=&quot;44&quot; r=&quot;5&quot; fill=&quot;#F2A33C&quot; /&gt;&#10;      &lt;/svg&gt;&#10;    &lt;/Box&gt;&#10;  &lt;/Animation&gt;&#10;&#10;  &lt;Animation animType=&quot;fadeIn&quot; startType=&quot;afterPrevious&quot; duration={600}&gt;&#10;    &lt;Text style={{ fontSize: 76, fontWeight: 'bold', color: '#FFFFFF', textShadow: '2px 3px 10px rgba(0,0,0,0.18)', letterSpacing: 4 }}&gt;西米的农场&lt;/Text&gt;&#10;  &lt;/Animation&gt;&#10;&#10;  &lt;Animation animType=&quot;fadeIn&quot; startType=&quot;afterPrevious&quot; duration={600}&gt;&#10;    &lt;Text style={{ fontSize: 28, color: '#F0FBF1', opacity: 0.96, marginTop: 14, letterSpacing: 2 }}&gt;一个温暖的网页农场小游戏&lt;/Text&gt;&#10;  &lt;/Animation&gt;&#10;&#10;  &lt;Animation animType=&quot;fadeIn&quot; startType=&quot;afterPrevious&quot; duration={600}&gt;&#10;    &lt;Box style={{ width: 320, height: 1, background: 'rgba(255,255,255,0.6)', margin: '26px 0' }} /&gt;&#10;  &lt;/Animation&gt;&#10;&#10;  &lt;Animation animType=&quot;fadeIn&quot; startType=&quot;afterPrevious&quot; duration={600}&gt;&#10;    &lt;Text style={{ fontSize: 24, color: '#FFFFFF', opacity: 0.95, letterSpacing: 3 }}&gt;种地 · 串门 · 偷菜 · 养狗，打开浏览器就能玩&lt;/Text&gt;&#10;  &lt;/Animation&gt;&#10;&#10;  &lt;Animation animType=&quot;fadeIn&quot; startType=&quot;afterPrevious&quot; duration={600}&gt;&#10;    &lt;Box style={{ marginTop: 40, padding: '10px 26px', borderRadius: 999, background: 'rgba(255,255,255,0.18)', border: '1px solid rgba(255,255,255,0.45)' }}&gt;&#10;      &lt;Text style={{ fontSize: 18, color: '#FFFFFF', letterSpacing: 2 }}&gt;零注册 · 零下载 · 本地存档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E9E5B"/>
              </a:gs>
              <a:gs pos="55000">
                <a:srgbClr val="3FB56B"/>
              </a:gs>
              <a:gs pos="100000">
                <a:srgbClr val="57C277"/>
              </a:gs>
            </a:gsLst>
            <a:lin ang="3900000" scaled="1"/>
          </a:gra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476875" y="1276350"/>
            <a:ext cx="1238250" cy="1238250"/>
          </a:xfrm>
          <a:prstGeom prst="rect">
            <a:avLst/>
          </a:prstGeom>
          <a:ln/>
        </p:spPr>
      </p:pic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4191000" y="2781300"/>
            <a:ext cx="38100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700" b="1" spc="300">
                <a:solidFill>
                  <a:srgbClr val="FFFFFF"/>
                </a:solidFill>
                <a:effectLst>
                  <a:outerShdw blurRad="95250" dist="34342" dir="3378595">
                    <a:srgbClr val="000000">
                      <a:alpha val="18000"/>
                    </a:srgbClr>
                  </a:outerShdw>
                </a:effectLst>
                <a:latin typeface="Microsoft YaHei"/>
                <a:ea typeface="Microsoft YaHei"/>
              </a:rPr>
              <a:t>西米的农场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4572000" y="4362450"/>
            <a:ext cx="3048000" cy="9525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4695825" y="5276850"/>
            <a:ext cx="2800350" cy="400050"/>
          </a:xfrm>
          <a:prstGeom prst="roundRect">
            <a:avLst>
              <a:gd name="adj" fmla="val 2378571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4943475" y="5372100"/>
            <a:ext cx="2305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150">
                <a:solidFill>
                  <a:srgbClr val="FFFFFF"/>
                </a:solidFill>
                <a:latin typeface="Microsoft YaHei"/>
                <a:ea typeface="Microsoft YaHei"/>
              </a:rPr>
              <a:t>零注册</a:t>
            </a:r>
            <a:r>
              <a:rPr lang="en-US" sz="135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spc="150">
                <a:solidFill>
                  <a:srgbClr val="FFFFFF"/>
                </a:solidFill>
                <a:latin typeface="Microsoft YaHei"/>
                <a:ea typeface="Microsoft YaHei"/>
              </a:rPr>
              <a:t>零下载</a:t>
            </a:r>
            <a:r>
              <a:rPr lang="en-US" sz="135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spc="150">
                <a:solidFill>
                  <a:srgbClr val="FFFFFF"/>
                </a:solidFill>
                <a:latin typeface="Microsoft YaHei"/>
                <a:ea typeface="Microsoft YaHei"/>
              </a:rPr>
              <a:t>本地存档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4381500" y="3790950"/>
            <a:ext cx="3429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spc="150">
                <a:solidFill>
                  <a:srgbClr val="F0FBF1">
                    <a:alpha val="96000"/>
                  </a:srgbClr>
                </a:solidFill>
                <a:latin typeface="Microsoft YaHei"/>
                <a:ea typeface="Microsoft YaHei"/>
              </a:rPr>
              <a:t>一个温暖的网页农场小游戏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3495675" y="4619625"/>
            <a:ext cx="5200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2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种地</a:t>
            </a:r>
            <a:r>
              <a:rPr lang="en-US" sz="1800" spc="2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 spc="2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串门</a:t>
            </a:r>
            <a:r>
              <a:rPr lang="en-US" sz="1800" spc="2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 spc="2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偷菜</a:t>
            </a:r>
            <a:r>
              <a:rPr lang="en-US" sz="1800" spc="2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 spc="2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养狗，打开浏览器就能玩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8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11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14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17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20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6" name="" descr="&lt;Slide style={{ padding: 60, background: '#F4FAEF', display: 'flex', flexDirection: 'column' }}&gt;&#10;  &lt;Animation animType=&quot;fadeIn&quot; duration={500}&gt;&#10;    &lt;Box style={{ position: 'relative' }}&gt;&#10;      &lt;Text style={{ fontSize: 34, fontWeight: 'bold', color: '#2E9E5B' }}&gt;打开浏览器，就能拥有自己的农场&lt;/Text&gt;&#10;      &lt;Box style={{ width: '100%', height: 1, background: '#2E9E5B', marginTop: 14 }} /&gt;&#10;      &lt;Box style={{ position: 'absolute', top: 0, right: 0, width: 44, height: 44, opacity: 0.9 }}&gt;&#10;        &lt;svg width=&quot;44&quot; height=&quot;44&quot; viewBox=&quot;0 0 100 100&quot;&gt;&#10;          &lt;path d=&quot;M50 94 V40&quot; stroke=&quot;#2E9E5B&quot; strokeWidth=&quot;6&quot; strokeLinecap=&quot;round&quot; fill=&quot;none&quot; /&gt;&#10;          &lt;path d=&quot;M50 58 C30 58 18 44 18 30 C38 30 50 42 50 58 Z&quot; fill=&quot;#2E9E5B&quot; /&gt;&#10;          &lt;path d=&quot;M50 50 C70 50 82 36 82 22 C62 22 50 34 50 50 Z&quot; fill=&quot;#7CC47F&quot; /&gt;&#10;        &lt;/svg&gt;&#10;      &lt;/Box&gt;&#10;    &lt;/Box&gt;&#10;  &lt;/Animation&gt;&#10;&#10;  &lt;Box style={{ flex: 1, flexDirection: 'row', gap: 40, alignItems: 'center', marginTop: 24 }}&gt;&#10;    &lt;Animation animType=&quot;fadeIn&quot; startType=&quot;afterPrevious&quot; duration={600}&gt;&#10;      &lt;Box style={{ flex: 1, flexDirection: 'column', gap: 22 }}&gt;&#10;        &lt;Box style={{ flexDirection: 'row', gap: 16, alignItems: 'flex-start' }}&gt;&#10;          &lt;Box style={{ width: 10, height: 10, borderRadius: 3, background: '#F2A33C', marginTop: 9 }} /&gt;&#10;          &lt;Box&gt;&#10;            &lt;Text style={{ fontSize: 22, fontWeight: 'bold', color: '#2B3A2B' }}&gt;零门槛&lt;/Text&gt;&#10;            &lt;Text style={{ fontSize: 18, color: '#4A5A4A', marginTop: 6, lineHeight: 1.5 }}&gt;不用注册、不用下载，打开网页立刻开玩&lt;/Text&gt;&#10;          &lt;/Box&gt;&#10;        &lt;/Box&gt;&#10;        &lt;Box style={{ flexDirection: 'row', gap: 16, alignItems: 'flex-start' }}&gt;&#10;          &lt;Box style={{ width: 10, height: 10, borderRadius: 3, background: '#F2A33C', marginTop: 9 }} /&gt;&#10;          &lt;Box&gt;&#10;            &lt;Text style={{ fontSize: 22, fontWeight: 'bold', color: '#2B3A2B' }}&gt;本地存档&lt;/Text&gt;&#10;            &lt;Text style={{ fontSize: 18, color: '#4A5A4A', marginTop: 6, lineHeight: 1.5 }}&gt;进度存在浏览器本地，关掉页面下次接着玩&lt;/Text&gt;&#10;          &lt;/Box&gt;&#10;        &lt;/Box&gt;&#10;        &lt;Box style={{ flexDirection: 'row', gap: 16, alignItems: 'flex-start' }}&gt;&#10;          &lt;Box style={{ width: 10, height: 10, borderRadius: 3, background: '#F2A33C', marginTop: 9 }} /&gt;&#10;          &lt;Box&gt;&#10;            &lt;Text style={{ fontSize: 22, fontWeight: 'bold', color: '#2B3A2B' }}&gt;经典重制&lt;/Text&gt;&#10;            &lt;Text style={{ fontSize: 18, color: '#4A5A4A', marginTop: 6, lineHeight: 1.5 }}&gt;致敬 3G 时代《阳光牧场》，用原生技术重制&lt;/Text&gt;&#10;          &lt;/Box&gt;&#10;        &lt;/Box&gt;&#10;      &lt;/Box&gt;&#10;    &lt;/Animation&gt;&#10;&#10;    &lt;Animation animType=&quot;flyIn&quot; direction=&quot;right&quot; startType=&quot;afterPrevious&quot; duration={600}&gt;&#10;      &lt;Box style={{ width: 520, borderRadius: 16, overflow: 'hidden', border: '1px solid #D8EBD2', boxShadow: '0 8px 24px rgba(46,158,91,0.12)' }}&gt;&#10;        &lt;Image src=&quot;assets/farm.png&quot; style={{ width: 520, height: 366, objectFit: 'cover', display: 'block' }} /&gt;&#10;      &lt;/Box&gt;&#10;    &lt;/Animation&gt;&#10;  &lt;/Box&gt;&#10;&#10;  &lt;Box style={{ marginTop: 16, paddingTop: 12, borderTop: '1px solid #E0EFD9' }}&gt;&#10;    &lt;Text style={{ fontSize: 14, color: '#6E7E6E' }}&gt;西米的农场 · 打开即玩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AEF"/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571500" y="252412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2A33C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19150" y="243840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零门槛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19150" y="2752725"/>
            <a:ext cx="3086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不用注册、不用下载，打开网页立刻开玩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571500" y="336232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2A33C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19150" y="3276600"/>
            <a:ext cx="3257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本地存档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19150" y="3590925"/>
            <a:ext cx="32575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进度存在浏览器本地，关掉页面下次接着玩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571500" y="420052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2A33C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19150" y="4114800"/>
            <a:ext cx="3419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经典重制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19150" y="4429125"/>
            <a:ext cx="34194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致敬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3G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时代《阳光牧场》，用原生技术重制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667500" y="1847850"/>
            <a:ext cx="4953000" cy="3486150"/>
          </a:xfrm>
          <a:prstGeom prst="roundRect">
            <a:avLst>
              <a:gd name="adj" fmla="val 4372"/>
            </a:avLst>
          </a:prstGeom>
          <a:ln w="12700">
            <a:solidFill>
              <a:srgbClr val="D8EBD2"/>
            </a:solidFill>
            <a:prstDash val="solid"/>
          </a:ln>
          <a:effectLst>
            <a:outerShdw blurRad="228600" dist="76200" dir="5400000">
              <a:srgbClr val="2E9E5B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8" name=""/>
          <p:cNvPicPr>
            <a:picLocks noChangeAspect="1"/>
          </p:cNvPicPr>
          <p:nvPr/>
        </p:nvPicPr>
        <p:blipFill>
          <a:blip r:embed="rId1"/>
          <a:srcRect l="51" t="0" r="51" b="0"/>
          <a:stretch>
            <a:fillRect/>
          </a:stretch>
        </p:blipFill>
        <p:spPr>
          <a:xfrm rot="0" flipH="0" flipV="0">
            <a:off x="6667500" y="1847850"/>
            <a:ext cx="4953000" cy="3486150"/>
          </a:xfrm>
          <a:custGeom>
            <a:pathLst>
              <a:path w="520" h="366">
                <a:moveTo>
                  <a:pt x="504" y="0"/>
                </a:moveTo>
                <a:cubicBezTo>
                  <a:pt x="513" y="0"/>
                  <a:pt x="520" y="7"/>
                  <a:pt x="520" y="16"/>
                </a:cubicBezTo>
                <a:lnTo>
                  <a:pt x="520" y="350"/>
                </a:lnTo>
                <a:cubicBezTo>
                  <a:pt x="520" y="359"/>
                  <a:pt x="513" y="366"/>
                  <a:pt x="504" y="366"/>
                </a:cubicBezTo>
                <a:lnTo>
                  <a:pt x="16" y="366"/>
                </a:lnTo>
                <a:cubicBezTo>
                  <a:pt x="7" y="366"/>
                  <a:pt x="0" y="359"/>
                  <a:pt x="0" y="3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504" y="0"/>
                </a:lnTo>
                <a:close/>
              </a:path>
            </a:pathLst>
          </a:custGeom>
          <a:ln/>
        </p:spPr>
      </p:pic>
      <p:sp>
        <p:nvSpPr>
          <p:cNvPr id="59" name=""/>
          <p:cNvSpPr/>
          <p:nvPr/>
        </p:nvSpPr>
        <p:spPr>
          <a:xfrm rot="0" flipH="0" flipV="0">
            <a:off x="571500" y="6000750"/>
            <a:ext cx="11049000" cy="295275"/>
          </a:xfrm>
          <a:custGeom>
            <a:pathLst>
              <a:path w="1160" h="31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0EFD9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71500" y="6124575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7E6E"/>
                </a:solidFill>
                <a:latin typeface="Microsoft YaHei"/>
                <a:ea typeface="Microsoft YaHei"/>
              </a:rPr>
              <a:t>西米的农场</a:t>
            </a:r>
            <a:r>
              <a:rPr lang="en-US" sz="1050">
                <a:solidFill>
                  <a:srgbClr val="6E7E6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E7E6E"/>
                </a:solidFill>
                <a:latin typeface="Microsoft YaHei"/>
                <a:ea typeface="Microsoft YaHei"/>
              </a:rPr>
              <a:t>打开即玩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E9E5B"/>
                </a:solidFill>
                <a:latin typeface="Microsoft YaHei"/>
                <a:ea typeface="Microsoft YaHei"/>
              </a:rPr>
              <a:t>打开浏览器，就能拥有自己的农场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p/>
        </p:txBody>
      </p:sp>
      <p:pic>
        <p:nvPicPr>
          <p:cNvPr id="63" name="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201400" y="571500"/>
            <a:ext cx="419100" cy="419100"/>
          </a:xfrm>
          <a:prstGeom prst="rect">
            <a:avLst/>
          </a:prstGeom>
          <a:ln/>
        </p:spPr>
      </p:pic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" presetClass="entr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146" presetID="2" presetClass="entr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4" name="" descr="&lt;Slide style={{ padding: 60, background: '#F4FAEF', display: 'flex', flexDirection: 'column' }}&gt;&#10;  &lt;Animation animType=&quot;fadeIn&quot; duration={500}&gt;&#10;    &lt;Box style={{ position: 'relative' }}&gt;&#10;      &lt;Text style={{ fontSize: 34, fontWeight: 'bold', color: '#2E9E5B' }}&gt;一个越玩越上头的循环&lt;/Text&gt;&#10;      &lt;Box style={{ width: '100%', height: 1, background: '#2E9E5B', marginTop: 14 }} /&gt;&#10;      &lt;Box style={{ position: 'absolute', top: 0, right: 0, width: 44, height: 44, opacity: 0.9 }}&gt;&#10;        &lt;svg width=&quot;44&quot; height=&quot;44&quot; viewBox=&quot;0 0 100 100&quot;&gt;&#10;          &lt;path d=&quot;M50 94 V40&quot; stroke=&quot;#2E9E5B&quot; strokeWidth=&quot;6&quot; strokeLinecap=&quot;round&quot; fill=&quot;none&quot; /&gt;&#10;          &lt;path d=&quot;M50 58 C30 58 18 44 18 30 C38 30 50 42 50 58 Z&quot; fill=&quot;#2E9E5B&quot; /&gt;&#10;          &lt;path d=&quot;M50 50 C70 50 82 36 82 22 C62 22 50 34 50 50 Z&quot; fill=&quot;#7CC47F&quot; /&gt;&#10;        &lt;/svg&gt;&#10;      &lt;/Box&gt;&#10;    &lt;/Box&gt;&#10;  &lt;/Animation&gt;&#10;&#10;  &lt;Box style={{ flex: 1, justifyContent: 'center' }}&gt;&#10;    &lt;Animation animType=&quot;fadeIn&quot; startType=&quot;afterPrevious&quot; duration={600}&gt;&#10;      &lt;Box style={{ flexDirection: 'row', alignItems: 'center', gap: 8 }}&gt;&#10;        &lt;Box style={{ flex: 1, background: '#EAF5E2', borderRadius: 14, padding: '24px 14px', alignItems: 'center', gap: 10 }}&gt;&#10;          &lt;Box style={{ width: 46, height: 46, borderRadius: '50%', background: '#2E9E5B', alignItems: 'center', justifyContent: 'center' }}&gt;&lt;Text style={{ fontSize: 22, color: '#fff', fontWeight: 'bold' }}&gt;1&lt;/Text&gt;&lt;/Box&gt;&#10;          &lt;Text style={{ fontSize: 22, fontWeight: 'bold', color: '#2B3A2B' }}&gt;种地&lt;/Text&gt;&#10;          &lt;Text style={{ fontSize: 15, color: '#6E7E6E', textAlign: 'center', lineHeight: 1.4 }}&gt;选种子 · 开垦地块&lt;/Text&gt;&#10;        &lt;/Box&gt;&#10;        &lt;Box style={{ width: 34, alignItems: 'center', justifyContent: 'center' }}&gt;&lt;Text style={{ fontSize: 30, color: '#2E9E5B', fontWeight: 'bold' }}&gt;→&lt;/Text&gt;&lt;/Box&gt;&#10;        &lt;Box style={{ flex: 1, background: '#EAF5E2', borderRadius: 14, padding: '24px 14px', alignItems: 'center', gap: 10 }}&gt;&#10;          &lt;Box style={{ width: 46, height: 46, borderRadius: '50%', background: '#2E9E5B', alignItems: 'center', justifyContent: 'center' }}&gt;&lt;Text style={{ fontSize: 22, color: '#fff', fontWeight: 'bold' }}&gt;2&lt;/Text&gt;&lt;/Box&gt;&#10;          &lt;Text style={{ fontSize: 22, fontWeight: 'bold', color: '#2B3A2B' }}&gt;照料&lt;/Text&gt;&#10;          &lt;Text style={{ fontSize: 15, color: '#6E7E6E', textAlign: 'center', lineHeight: 1.4 }}&gt;浇水 · 捉虫&lt;/Text&gt;&#10;        &lt;/Box&gt;&#10;        &lt;Box style={{ width: 34, alignItems: 'center', justifyContent: 'center' }}&gt;&lt;Text style={{ fontSize: 30, color: '#2E9E5B', fontWeight: 'bold' }}&gt;→&lt;/Text&gt;&lt;/Box&gt;&#10;        &lt;Box style={{ flex: 1, background: '#EAF5E2', borderRadius: 14, padding: '24px 14px', alignItems: 'center', gap: 10 }}&gt;&#10;          &lt;Box style={{ width: 46, height: 46, borderRadius: '50%', background: '#2E9E5B', alignItems: 'center', justifyContent: 'center' }}&gt;&lt;Text style={{ fontSize: 22, color: '#fff', fontWeight: 'bold' }}&gt;3&lt;/Text&gt;&lt;/Box&gt;&#10;          &lt;Text style={{ fontSize: 22, fontWeight: 'bold', color: '#2B3A2B' }}&gt;收获&lt;/Text&gt;&#10;          &lt;Text style={{ fontSize: 15, color: '#6E7E6E', textAlign: 'center', lineHeight: 1.4 }}&gt;成熟 · 采收&lt;/Text&gt;&#10;        &lt;/Box&gt;&#10;        &lt;Box style={{ width: 34, alignItems: 'center', justifyContent: 'center' }}&gt;&lt;Text style={{ fontSize: 30, color: '#2E9E5B', fontWeight: 'bold' }}&gt;→&lt;/Text&gt;&lt;/Box&gt;&#10;        &lt;Box style={{ flex: 1, background: '#EAF5E2', borderRadius: 14, padding: '24px 14px', alignItems: 'center', gap: 10 }}&gt;&#10;          &lt;Box style={{ width: 46, height: 46, borderRadius: '50%', background: '#2E9E5B', alignItems: 'center', justifyContent: 'center' }}&gt;&lt;Text style={{ fontSize: 22, color: '#fff', fontWeight: 'bold' }}&gt;4&lt;/Text&gt;&lt;/Box&gt;&#10;          &lt;Text style={{ fontSize: 22, fontWeight: 'bold', color: '#2B3A2B' }}&gt;卖钱&lt;/Text&gt;&#10;          &lt;Text style={{ fontSize: 15, color: '#6E7E6E', textAlign: 'center', lineHeight: 1.4 }}&gt;仓库 · 交易&lt;/Text&gt;&#10;        &lt;/Box&gt;&#10;        &lt;Box style={{ width: 34, alignItems: 'center', justifyContent: 'center' }}&gt;&lt;Text style={{ fontSize: 30, color: '#2E9E5B', fontWeight: 'bold' }}&gt;→&lt;/Text&gt;&lt;/Box&gt;&#10;        &lt;Box style={{ flex: 1, background: '#EAF5E2', borderRadius: 14, padding: '24px 14px', alignItems: 'center', gap: 10 }}&gt;&#10;          &lt;Box style={{ width: 46, height: 46, borderRadius: '50%', background: '#F2A33C', alignItems: 'center', justifyContent: 'center' }}&gt;&lt;Text style={{ fontSize: 22, color: '#fff', fontWeight: 'bold' }}&gt;5&lt;/Text&gt;&lt;/Box&gt;&#10;          &lt;Text style={{ fontSize: 22, fontWeight: 'bold', color: '#2B3A2B' }}&gt;升级&lt;/Text&gt;&#10;          &lt;Text style={{ fontSize: 15, color: '#6E7E6E', textAlign: 'center', lineHeight: 1.4 }}&gt;土地 · 解锁&lt;/Text&gt;&#10;        &lt;/Box&gt;&#10;      &lt;/Box&gt;&#10;    &lt;/Animation&gt;&#10;&#10;    &lt;Animation animType=&quot;fadeIn&quot; startType=&quot;afterPrevious&quot; duration={600}&gt;&#10;      &lt;Box style={{ marginTop: 28, background: '#FFF6E9', borderLeft: '4px solid #F2A33C', borderRadius: 10, padding: '16px 22px' }}&gt;&#10;        &lt;Text style={{ fontSize: 19, color: '#7A5A1E', lineHeight: 1.5 }}&gt;浇水缩短当前阶段、捉虫提升产量；等级越高解锁越多作物与土地 —— 升级后种更好的种子，循环继续。&lt;/Text&gt;&#10;      &lt;/Box&gt;&#10;    &lt;/Animation&gt;&#10;  &lt;/Box&gt;&#10;&#10;  &lt;Box style={{ marginTop: 16, paddingTop: 12, borderTop: '1px solid #E0EFD9' }}&gt;&#10;    &lt;Text style={{ fontSize: 14, color: '#6E7E6E' }}&gt;西米的农场 · 打开即玩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AEF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571500" y="2228850"/>
            <a:ext cx="1828800" cy="1590675"/>
          </a:xfrm>
          <a:prstGeom prst="roundRect">
            <a:avLst>
              <a:gd name="adj" fmla="val 8383"/>
            </a:avLst>
          </a:prstGeom>
          <a:solidFill>
            <a:srgbClr val="EAF5E2"/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1266825" y="2457450"/>
            <a:ext cx="438150" cy="438150"/>
          </a:xfrm>
          <a:custGeom>
            <a:pathLst>
              <a:path w="46" h="46">
                <a:moveTo>
                  <a:pt x="23" y="0"/>
                </a:moveTo>
                <a:lnTo>
                  <a:pt x="23" y="0"/>
                </a:lnTo>
                <a:cubicBezTo>
                  <a:pt x="36" y="0"/>
                  <a:pt x="46" y="10"/>
                  <a:pt x="46" y="23"/>
                </a:cubicBezTo>
                <a:lnTo>
                  <a:pt x="46" y="23"/>
                </a:lnTo>
                <a:cubicBezTo>
                  <a:pt x="46" y="36"/>
                  <a:pt x="36" y="46"/>
                  <a:pt x="23" y="46"/>
                </a:cubicBezTo>
                <a:lnTo>
                  <a:pt x="23" y="46"/>
                </a:lnTo>
                <a:cubicBezTo>
                  <a:pt x="10" y="46"/>
                  <a:pt x="0" y="36"/>
                  <a:pt x="0" y="23"/>
                </a:cubicBezTo>
                <a:lnTo>
                  <a:pt x="0" y="23"/>
                </a:lnTo>
                <a:cubicBezTo>
                  <a:pt x="0" y="10"/>
                  <a:pt x="10" y="0"/>
                  <a:pt x="23" y="0"/>
                </a:cubicBezTo>
                <a:close/>
              </a:path>
            </a:pathLst>
          </a:custGeom>
          <a:solidFill>
            <a:srgbClr val="2E9E5B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419225" y="255270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276350" y="29908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种地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923925" y="3343275"/>
            <a:ext cx="1123950" cy="24765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125">
                <a:solidFill>
                  <a:srgbClr val="6E7E6E"/>
                </a:solidFill>
                <a:latin typeface="Microsoft YaHei"/>
                <a:ea typeface="Microsoft YaHei"/>
              </a:rPr>
              <a:t>选种子</a:t>
            </a:r>
            <a:r>
              <a:rPr lang="en-US" sz="1125">
                <a:solidFill>
                  <a:srgbClr val="6E7E6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6E7E6E"/>
                </a:solidFill>
                <a:latin typeface="Microsoft YaHei"/>
                <a:ea typeface="Microsoft YaHei"/>
              </a:rPr>
              <a:t>开垦地块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2495550" y="2857500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2E9E5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2876550" y="2228850"/>
            <a:ext cx="1828800" cy="1590675"/>
          </a:xfrm>
          <a:prstGeom prst="roundRect">
            <a:avLst>
              <a:gd name="adj" fmla="val 8383"/>
            </a:avLst>
          </a:prstGeom>
          <a:solidFill>
            <a:srgbClr val="EAF5E2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3571875" y="2457450"/>
            <a:ext cx="438150" cy="438150"/>
          </a:xfrm>
          <a:custGeom>
            <a:pathLst>
              <a:path w="46" h="46">
                <a:moveTo>
                  <a:pt x="23" y="0"/>
                </a:moveTo>
                <a:lnTo>
                  <a:pt x="23" y="0"/>
                </a:lnTo>
                <a:cubicBezTo>
                  <a:pt x="36" y="0"/>
                  <a:pt x="46" y="10"/>
                  <a:pt x="46" y="23"/>
                </a:cubicBezTo>
                <a:lnTo>
                  <a:pt x="46" y="23"/>
                </a:lnTo>
                <a:cubicBezTo>
                  <a:pt x="46" y="36"/>
                  <a:pt x="36" y="46"/>
                  <a:pt x="23" y="46"/>
                </a:cubicBezTo>
                <a:lnTo>
                  <a:pt x="23" y="46"/>
                </a:lnTo>
                <a:cubicBezTo>
                  <a:pt x="10" y="46"/>
                  <a:pt x="0" y="36"/>
                  <a:pt x="0" y="23"/>
                </a:cubicBezTo>
                <a:lnTo>
                  <a:pt x="0" y="23"/>
                </a:lnTo>
                <a:cubicBezTo>
                  <a:pt x="0" y="10"/>
                  <a:pt x="10" y="0"/>
                  <a:pt x="23" y="0"/>
                </a:cubicBezTo>
                <a:close/>
              </a:path>
            </a:pathLst>
          </a:custGeom>
          <a:solidFill>
            <a:srgbClr val="2E9E5B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3724275" y="255270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3581400" y="29908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照料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3448050" y="3343275"/>
            <a:ext cx="695325" cy="24765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125">
                <a:solidFill>
                  <a:srgbClr val="6E7E6E"/>
                </a:solidFill>
                <a:latin typeface="Microsoft YaHei"/>
                <a:ea typeface="Microsoft YaHei"/>
              </a:rPr>
              <a:t>浇水</a:t>
            </a:r>
            <a:r>
              <a:rPr lang="en-US" sz="1125">
                <a:solidFill>
                  <a:srgbClr val="6E7E6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6E7E6E"/>
                </a:solidFill>
                <a:latin typeface="Microsoft YaHei"/>
                <a:ea typeface="Microsoft YaHei"/>
              </a:rPr>
              <a:t>捉虫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800600" y="2857500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2E9E5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5181600" y="2228850"/>
            <a:ext cx="1828800" cy="1590675"/>
          </a:xfrm>
          <a:prstGeom prst="roundRect">
            <a:avLst>
              <a:gd name="adj" fmla="val 8383"/>
            </a:avLst>
          </a:prstGeom>
          <a:solidFill>
            <a:srgbClr val="EAF5E2"/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5876925" y="2457450"/>
            <a:ext cx="438150" cy="438150"/>
          </a:xfrm>
          <a:custGeom>
            <a:pathLst>
              <a:path w="46" h="46">
                <a:moveTo>
                  <a:pt x="23" y="0"/>
                </a:moveTo>
                <a:lnTo>
                  <a:pt x="23" y="0"/>
                </a:lnTo>
                <a:cubicBezTo>
                  <a:pt x="36" y="0"/>
                  <a:pt x="46" y="10"/>
                  <a:pt x="46" y="23"/>
                </a:cubicBezTo>
                <a:lnTo>
                  <a:pt x="46" y="23"/>
                </a:lnTo>
                <a:cubicBezTo>
                  <a:pt x="46" y="36"/>
                  <a:pt x="36" y="46"/>
                  <a:pt x="23" y="46"/>
                </a:cubicBezTo>
                <a:lnTo>
                  <a:pt x="23" y="46"/>
                </a:lnTo>
                <a:cubicBezTo>
                  <a:pt x="10" y="46"/>
                  <a:pt x="0" y="36"/>
                  <a:pt x="0" y="23"/>
                </a:cubicBezTo>
                <a:lnTo>
                  <a:pt x="0" y="23"/>
                </a:lnTo>
                <a:cubicBezTo>
                  <a:pt x="0" y="10"/>
                  <a:pt x="10" y="0"/>
                  <a:pt x="23" y="0"/>
                </a:cubicBezTo>
                <a:close/>
              </a:path>
            </a:pathLst>
          </a:custGeom>
          <a:solidFill>
            <a:srgbClr val="2E9E5B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029325" y="255270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886450" y="29908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收获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753100" y="3343275"/>
            <a:ext cx="695325" cy="24765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125">
                <a:solidFill>
                  <a:srgbClr val="6E7E6E"/>
                </a:solidFill>
                <a:latin typeface="Microsoft YaHei"/>
                <a:ea typeface="Microsoft YaHei"/>
              </a:rPr>
              <a:t>成熟</a:t>
            </a:r>
            <a:r>
              <a:rPr lang="en-US" sz="1125">
                <a:solidFill>
                  <a:srgbClr val="6E7E6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6E7E6E"/>
                </a:solidFill>
                <a:latin typeface="Microsoft YaHei"/>
                <a:ea typeface="Microsoft YaHei"/>
              </a:rPr>
              <a:t>采收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105650" y="2857500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2E9E5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7486650" y="2228850"/>
            <a:ext cx="1828800" cy="1590675"/>
          </a:xfrm>
          <a:prstGeom prst="roundRect">
            <a:avLst>
              <a:gd name="adj" fmla="val 8383"/>
            </a:avLst>
          </a:prstGeom>
          <a:solidFill>
            <a:srgbClr val="EAF5E2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8181975" y="2457450"/>
            <a:ext cx="438150" cy="438150"/>
          </a:xfrm>
          <a:custGeom>
            <a:pathLst>
              <a:path w="46" h="46">
                <a:moveTo>
                  <a:pt x="23" y="0"/>
                </a:moveTo>
                <a:lnTo>
                  <a:pt x="23" y="0"/>
                </a:lnTo>
                <a:cubicBezTo>
                  <a:pt x="36" y="0"/>
                  <a:pt x="46" y="10"/>
                  <a:pt x="46" y="23"/>
                </a:cubicBezTo>
                <a:lnTo>
                  <a:pt x="46" y="23"/>
                </a:lnTo>
                <a:cubicBezTo>
                  <a:pt x="46" y="36"/>
                  <a:pt x="36" y="46"/>
                  <a:pt x="23" y="46"/>
                </a:cubicBezTo>
                <a:lnTo>
                  <a:pt x="23" y="46"/>
                </a:lnTo>
                <a:cubicBezTo>
                  <a:pt x="10" y="46"/>
                  <a:pt x="0" y="36"/>
                  <a:pt x="0" y="23"/>
                </a:cubicBezTo>
                <a:lnTo>
                  <a:pt x="0" y="23"/>
                </a:lnTo>
                <a:cubicBezTo>
                  <a:pt x="0" y="10"/>
                  <a:pt x="10" y="0"/>
                  <a:pt x="23" y="0"/>
                </a:cubicBezTo>
                <a:close/>
              </a:path>
            </a:pathLst>
          </a:custGeom>
          <a:solidFill>
            <a:srgbClr val="2E9E5B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334375" y="255270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191500" y="29908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卖钱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058150" y="3343275"/>
            <a:ext cx="695325" cy="24765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125">
                <a:solidFill>
                  <a:srgbClr val="6E7E6E"/>
                </a:solidFill>
                <a:latin typeface="Microsoft YaHei"/>
                <a:ea typeface="Microsoft YaHei"/>
              </a:rPr>
              <a:t>仓库</a:t>
            </a:r>
            <a:r>
              <a:rPr lang="en-US" sz="1125">
                <a:solidFill>
                  <a:srgbClr val="6E7E6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6E7E6E"/>
                </a:solidFill>
                <a:latin typeface="Microsoft YaHei"/>
                <a:ea typeface="Microsoft YaHei"/>
              </a:rPr>
              <a:t>交易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9410700" y="2857500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2E9E5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9791700" y="2228850"/>
            <a:ext cx="1828800" cy="1590675"/>
          </a:xfrm>
          <a:prstGeom prst="roundRect">
            <a:avLst>
              <a:gd name="adj" fmla="val 8383"/>
            </a:avLst>
          </a:prstGeom>
          <a:solidFill>
            <a:srgbClr val="EAF5E2"/>
          </a:soli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10487025" y="2457450"/>
            <a:ext cx="438150" cy="438150"/>
          </a:xfrm>
          <a:custGeom>
            <a:pathLst>
              <a:path w="46" h="46">
                <a:moveTo>
                  <a:pt x="23" y="0"/>
                </a:moveTo>
                <a:lnTo>
                  <a:pt x="23" y="0"/>
                </a:lnTo>
                <a:cubicBezTo>
                  <a:pt x="36" y="0"/>
                  <a:pt x="46" y="10"/>
                  <a:pt x="46" y="23"/>
                </a:cubicBezTo>
                <a:lnTo>
                  <a:pt x="46" y="23"/>
                </a:lnTo>
                <a:cubicBezTo>
                  <a:pt x="46" y="36"/>
                  <a:pt x="36" y="46"/>
                  <a:pt x="23" y="46"/>
                </a:cubicBezTo>
                <a:lnTo>
                  <a:pt x="23" y="46"/>
                </a:lnTo>
                <a:cubicBezTo>
                  <a:pt x="10" y="46"/>
                  <a:pt x="0" y="36"/>
                  <a:pt x="0" y="23"/>
                </a:cubicBezTo>
                <a:lnTo>
                  <a:pt x="0" y="23"/>
                </a:lnTo>
                <a:cubicBezTo>
                  <a:pt x="0" y="10"/>
                  <a:pt x="10" y="0"/>
                  <a:pt x="23" y="0"/>
                </a:cubicBezTo>
                <a:close/>
              </a:path>
            </a:pathLst>
          </a:custGeom>
          <a:solidFill>
            <a:srgbClr val="F2A33C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0639425" y="255270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0496550" y="29908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升级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0363200" y="3343275"/>
            <a:ext cx="695325" cy="24765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125">
                <a:solidFill>
                  <a:srgbClr val="6E7E6E"/>
                </a:solidFill>
                <a:latin typeface="Microsoft YaHei"/>
                <a:ea typeface="Microsoft YaHei"/>
              </a:rPr>
              <a:t>土地</a:t>
            </a:r>
            <a:r>
              <a:rPr lang="en-US" sz="1125">
                <a:solidFill>
                  <a:srgbClr val="6E7E6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6E7E6E"/>
                </a:solidFill>
                <a:latin typeface="Microsoft YaHei"/>
                <a:ea typeface="Microsoft YaHei"/>
              </a:rPr>
              <a:t>解锁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09600" y="4086225"/>
            <a:ext cx="11049000" cy="638175"/>
          </a:xfrm>
          <a:prstGeom prst="roundRect">
            <a:avLst>
              <a:gd name="adj" fmla="val 14925"/>
            </a:avLst>
          </a:prstGeom>
          <a:solidFill>
            <a:srgbClr val="FFF6E9"/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609600" y="4086225"/>
            <a:ext cx="11049000" cy="638175"/>
          </a:xfrm>
          <a:custGeom>
            <a:pathLst>
              <a:path w="1160" h="67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61"/>
                </a:lnTo>
                <a:cubicBezTo>
                  <a:pt x="4" y="64"/>
                  <a:pt x="6" y="66"/>
                  <a:pt x="9" y="67"/>
                </a:cubicBezTo>
                <a:cubicBezTo>
                  <a:pt x="4" y="66"/>
                  <a:pt x="0" y="62"/>
                  <a:pt x="0" y="5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2A33C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19150" y="4238625"/>
            <a:ext cx="105918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7A5A1E"/>
                </a:solidFill>
                <a:latin typeface="Microsoft YaHei"/>
                <a:ea typeface="Microsoft YaHei"/>
              </a:rPr>
              <a:t>浇水缩短当前阶段、捉虫提升产量；等级越高解锁越多作物与土地</a:t>
            </a:r>
            <a:r>
              <a:rPr lang="en-US" sz="1425">
                <a:solidFill>
                  <a:srgbClr val="7A5A1E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425">
                <a:solidFill>
                  <a:srgbClr val="7A5A1E"/>
                </a:solidFill>
                <a:latin typeface="Microsoft YaHei"/>
                <a:ea typeface="Microsoft YaHei"/>
              </a:rPr>
              <a:t>升级后种更好的种子，循环继续。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571500" y="6000750"/>
            <a:ext cx="11049000" cy="295275"/>
          </a:xfrm>
          <a:custGeom>
            <a:pathLst>
              <a:path w="1160" h="31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0EFD9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571500" y="6124575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7E6E"/>
                </a:solidFill>
                <a:latin typeface="Microsoft YaHei"/>
                <a:ea typeface="Microsoft YaHei"/>
              </a:rPr>
              <a:t>西米的农场</a:t>
            </a:r>
            <a:r>
              <a:rPr lang="en-US" sz="1050">
                <a:solidFill>
                  <a:srgbClr val="6E7E6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E7E6E"/>
                </a:solidFill>
                <a:latin typeface="Microsoft YaHei"/>
                <a:ea typeface="Microsoft YaHei"/>
              </a:rPr>
              <a:t>打开即玩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E9E5B"/>
                </a:solidFill>
                <a:latin typeface="Microsoft YaHei"/>
                <a:ea typeface="Microsoft YaHei"/>
              </a:rPr>
              <a:t>一个越玩越上头的循环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p/>
        </p:txBody>
      </p:sp>
      <p:pic>
        <p:nvPicPr>
          <p:cNvPr id="102" name="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201400" y="571500"/>
            <a:ext cx="419100" cy="419100"/>
          </a:xfrm>
          <a:prstGeom prst="rect">
            <a:avLst/>
          </a:prstGeom>
          <a:ln/>
        </p:spPr>
      </p:pic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6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6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6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6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6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6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6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6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6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6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6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24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252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6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3" name="" descr="&lt;Slide style={{ padding: 60, background: '#F4FAEF', display: 'flex', flexDirection: 'column' }}&gt;&#10;  &lt;Animation animType=&quot;fadeIn&quot; duration={500}&gt;&#10;    &lt;Box style={{ position: 'relative' }}&gt;&#10;      &lt;Text style={{ fontSize: 34, fontWeight: 'bold', color: '#2E9E5B' }}&gt;种满你的 40 块地&lt;/Text&gt;&#10;      &lt;Box style={{ width: '100%', height: 1, background: '#2E9E5B', marginTop: 14 }} /&gt;&#10;      &lt;Box style={{ position: 'absolute', top: 0, right: 0, width: 44, height: 44, opacity: 0.9 }}&gt;&#10;        &lt;svg width=&quot;44&quot; height=&quot;44&quot; viewBox=&quot;0 0 100 100&quot;&gt;&#10;          &lt;path d=&quot;M50 94 V40&quot; stroke=&quot;#2E9E5B&quot; strokeWidth=&quot;6&quot; strokeLinecap=&quot;round&quot; fill=&quot;none&quot; /&gt;&#10;          &lt;path d=&quot;M50 58 C30 58 18 44 18 30 C38 30 50 42 50 58 Z&quot; fill=&quot;#2E9E5B&quot; /&gt;&#10;          &lt;path d=&quot;M50 50 C70 50 82 36 82 22 C62 22 50 34 50 50 Z&quot; fill=&quot;#7CC47F&quot; /&gt;&#10;        &lt;/svg&gt;&#10;      &lt;/Box&gt;&#10;    &lt;/Box&gt;&#10;  &lt;/Animation&gt;&#10;&#10;  &lt;Animation animType=&quot;fadeIn&quot; startType=&quot;afterPrevious&quot; duration={500}&gt;&#10;    &lt;Text style={{ fontSize: 19, color: '#4A5A4A', marginTop: 18, lineHeight: 1.5 }}&gt;从一颗小麦到 267 种作物，从 6 块地到 40 块地 —— 农场由你亲手扩张。&lt;/Text&gt;&#10;  &lt;/Animation&gt;&#10;&#10;  &lt;Animation animType=&quot;fadeIn&quot; startType=&quot;afterPrevious&quot; duration={600}&gt;&#10;    &lt;Box style={{ flexDirection: 'row', marginTop: 26, background: '#FFFFFF', borderRadius: 16, border: '1px solid #E0EFD9', overflow: 'hidden' }}&gt;&#10;      &lt;Box style={{ flex: 1, alignItems: 'center', justifyContent: 'center', padding: '30px 10px', borderRight: '1px solid #E0EFD9' }}&gt;&#10;        &lt;Text style={{ fontSize: 92, fontWeight: 'bold', color: '#F2A33C' }}&gt;267&lt;/Text&gt;&#10;        &lt;Text style={{ fontSize: 20, color: '#2B3A2B', marginTop: 8 }}&gt;种作物&lt;/Text&gt;&#10;      &lt;/Box&gt;&#10;      &lt;Box style={{ flex: 1, alignItems: 'center', justifyContent: 'center', padding: '30px 10px', borderRight: '1px solid #E0EFD9' }}&gt;&#10;        &lt;Text style={{ fontSize: 92, fontWeight: 'bold', color: '#F2A33C' }}&gt;6&lt;/Text&gt;&#10;        &lt;Text style={{ fontSize: 20, color: '#2B3A2B', marginTop: 8 }}&gt;种原型&lt;/Text&gt;&#10;      &lt;/Box&gt;&#10;      &lt;Box style={{ flex: 1, alignItems: 'center', justifyContent: 'center', padding: '30px 10px', borderRight: '1px solid #E0EFD9' }}&gt;&#10;        &lt;Text style={{ fontSize: 92, fontWeight: 'bold', color: '#F2A33C' }}&gt;8&lt;/Text&gt;&#10;        &lt;Text style={{ fontSize: 20, color: '#2B3A2B', marginTop: 8 }}&gt;档土地&lt;/Text&gt;&#10;      &lt;/Box&gt;&#10;      &lt;Box style={{ flex: 1, alignItems: 'center', justifyContent: 'center', padding: '30px 10px' }}&gt;&#10;        &lt;Text style={{ fontSize: 92, fontWeight: 'bold', color: '#F2A33C' }}&gt;40&lt;/Text&gt;&#10;        &lt;Text style={{ fontSize: 20, color: '#2B3A2B', marginTop: 8 }}&gt;块地块&lt;/Text&gt;&#10;      &lt;/Box&gt;&#10;    &lt;/Box&gt;&#10;  &lt;/Animation&gt;&#10;&#10;  &lt;Animation animType=&quot;fadeIn&quot; startType=&quot;afterPrevious&quot; duration={600}&gt;&#10;    &lt;Box style={{ marginTop: 26, background: '#EAF5E2', borderRadius: 12, padding: '18px 24px' }}&gt;&#10;      &lt;Text style={{ fontSize: 18, color: '#2B3A2B', lineHeight: 1.6 }}&gt;照料决定收成：浇水缩短当前阶段 10%，捉虫每只 +10% 产量（上限 +100%）；照顾经验 = 作物等级 ÷ 10。&lt;span style={{ color: '#C0392B', fontWeight: 'bold' }}&gt;欠水 −15%、欠虫 −40%&lt;/span&gt; —— 勤快才有好收成。&lt;/Text&gt;&#10;    &lt;/Box&gt;&#10;  &lt;/Animation&gt;&#10;&#10;  &lt;Box style={{ marginTop: 16, paddingTop: 12, borderTop: '1px solid #E0EFD9' }}&gt;&#10;    &lt;Text style={{ fontSize: 14, color: '#6E7E6E' }}&gt;西米的农场 · 打开即玩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AEF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71500" y="1276350"/>
            <a:ext cx="110490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A4A"/>
                </a:solidFill>
                <a:latin typeface="Microsoft YaHei"/>
                <a:ea typeface="Microsoft YaHei"/>
              </a:rPr>
              <a:t>从一颗小麦到</a:t>
            </a:r>
            <a:r>
              <a:rPr lang="en-US" sz="1425">
                <a:solidFill>
                  <a:srgbClr val="4A5A4A"/>
                </a:solidFill>
                <a:latin typeface="Microsoft YaHei"/>
                <a:ea typeface="Microsoft YaHei"/>
              </a:rPr>
              <a:t xml:space="preserve"> 267 </a:t>
            </a:r>
            <a:r>
              <a:rPr lang="zh-CN" sz="1425">
                <a:solidFill>
                  <a:srgbClr val="4A5A4A"/>
                </a:solidFill>
                <a:latin typeface="Microsoft YaHei"/>
                <a:ea typeface="Microsoft YaHei"/>
              </a:rPr>
              <a:t>种作物，从</a:t>
            </a:r>
            <a:r>
              <a:rPr lang="en-US" sz="1425">
                <a:solidFill>
                  <a:srgbClr val="4A5A4A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425">
                <a:solidFill>
                  <a:srgbClr val="4A5A4A"/>
                </a:solidFill>
                <a:latin typeface="Microsoft YaHei"/>
                <a:ea typeface="Microsoft YaHei"/>
              </a:rPr>
              <a:t>块地到</a:t>
            </a:r>
            <a:r>
              <a:rPr lang="en-US" sz="1425">
                <a:solidFill>
                  <a:srgbClr val="4A5A4A"/>
                </a:solidFill>
                <a:latin typeface="Microsoft YaHei"/>
                <a:ea typeface="Microsoft YaHei"/>
              </a:rPr>
              <a:t xml:space="preserve"> 40 </a:t>
            </a:r>
            <a:r>
              <a:rPr lang="zh-CN" sz="1425">
                <a:solidFill>
                  <a:srgbClr val="4A5A4A"/>
                </a:solidFill>
                <a:latin typeface="Microsoft YaHei"/>
                <a:ea typeface="Microsoft YaHei"/>
              </a:rPr>
              <a:t>块地</a:t>
            </a:r>
            <a:r>
              <a:rPr lang="en-US" sz="1425">
                <a:solidFill>
                  <a:srgbClr val="4A5A4A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425">
                <a:solidFill>
                  <a:srgbClr val="4A5A4A"/>
                </a:solidFill>
                <a:latin typeface="Microsoft YaHei"/>
                <a:ea typeface="Microsoft YaHei"/>
              </a:rPr>
              <a:t>农场由你亲手扩张。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571500" y="1857375"/>
            <a:ext cx="11049000" cy="1933575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12700">
            <a:solidFill>
              <a:srgbClr val="E0EFD9"/>
            </a:solidFill>
            <a:prstDash val="solid"/>
          </a:ln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571500" y="1857375"/>
            <a:ext cx="2771775" cy="1933575"/>
          </a:xfrm>
          <a:custGeom>
            <a:pathLst>
              <a:path w="291" h="203">
                <a:moveTo>
                  <a:pt x="290" y="0"/>
                </a:moveTo>
                <a:lnTo>
                  <a:pt x="291" y="0"/>
                </a:lnTo>
                <a:lnTo>
                  <a:pt x="291" y="203"/>
                </a:lnTo>
                <a:lnTo>
                  <a:pt x="290" y="203"/>
                </a:lnTo>
                <a:close/>
              </a:path>
            </a:pathLst>
          </a:custGeom>
          <a:solidFill>
            <a:srgbClr val="E0EFD9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33475" y="2143125"/>
            <a:ext cx="1628775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F2A33C"/>
                </a:solidFill>
                <a:latin typeface="Microsoft YaHei"/>
                <a:ea typeface="Microsoft YaHei"/>
              </a:rPr>
              <a:t>267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666875" y="327660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2B3A2B"/>
                </a:solidFill>
                <a:latin typeface="Microsoft YaHei"/>
                <a:ea typeface="Microsoft YaHei"/>
              </a:rPr>
              <a:t>种作物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3333750" y="1857375"/>
            <a:ext cx="2771775" cy="1933575"/>
          </a:xfrm>
          <a:custGeom>
            <a:pathLst>
              <a:path w="291" h="203">
                <a:moveTo>
                  <a:pt x="290" y="0"/>
                </a:moveTo>
                <a:lnTo>
                  <a:pt x="291" y="0"/>
                </a:lnTo>
                <a:lnTo>
                  <a:pt x="291" y="203"/>
                </a:lnTo>
                <a:lnTo>
                  <a:pt x="290" y="203"/>
                </a:lnTo>
                <a:close/>
              </a:path>
            </a:pathLst>
          </a:custGeom>
          <a:solidFill>
            <a:srgbClr val="E0EFD9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438650" y="2143125"/>
            <a:ext cx="542925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F2A33C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429125" y="327660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2B3A2B"/>
                </a:solidFill>
                <a:latin typeface="Microsoft YaHei"/>
                <a:ea typeface="Microsoft YaHei"/>
              </a:rPr>
              <a:t>种原型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096000" y="1857375"/>
            <a:ext cx="2771775" cy="1933575"/>
          </a:xfrm>
          <a:custGeom>
            <a:pathLst>
              <a:path w="291" h="203">
                <a:moveTo>
                  <a:pt x="290" y="0"/>
                </a:moveTo>
                <a:lnTo>
                  <a:pt x="291" y="0"/>
                </a:lnTo>
                <a:lnTo>
                  <a:pt x="291" y="203"/>
                </a:lnTo>
                <a:lnTo>
                  <a:pt x="290" y="203"/>
                </a:lnTo>
                <a:close/>
              </a:path>
            </a:pathLst>
          </a:custGeom>
          <a:solidFill>
            <a:srgbClr val="E0EFD9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200900" y="2143125"/>
            <a:ext cx="542925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F2A33C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191375" y="327660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2B3A2B"/>
                </a:solidFill>
                <a:latin typeface="Microsoft YaHei"/>
                <a:ea typeface="Microsoft YaHei"/>
              </a:rPr>
              <a:t>档土地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9696450" y="2143125"/>
            <a:ext cx="1085850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F2A33C"/>
                </a:solidFill>
                <a:latin typeface="Microsoft YaHei"/>
                <a:ea typeface="Microsoft YaHei"/>
              </a:rPr>
              <a:t>40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9953625" y="327660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2B3A2B"/>
                </a:solidFill>
                <a:latin typeface="Microsoft YaHei"/>
                <a:ea typeface="Microsoft YaHei"/>
              </a:rPr>
              <a:t>块地块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571500" y="4038600"/>
            <a:ext cx="11049000" cy="1009650"/>
          </a:xfrm>
          <a:prstGeom prst="roundRect">
            <a:avLst>
              <a:gd name="adj" fmla="val 11321"/>
            </a:avLst>
          </a:prstGeom>
          <a:solidFill>
            <a:srgbClr val="EAF5E2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00100" y="4210050"/>
            <a:ext cx="105918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2B3A2B"/>
                </a:solidFill>
                <a:latin typeface="Microsoft YaHei"/>
                <a:ea typeface="Microsoft YaHei"/>
              </a:rPr>
              <a:t>照料决定收成：浇水缩短当前阶段</a:t>
            </a:r>
            <a:r>
              <a:rPr lang="en-US" sz="1350">
                <a:solidFill>
                  <a:srgbClr val="2B3A2B"/>
                </a:solidFill>
                <a:latin typeface="Microsoft YaHei"/>
                <a:ea typeface="Microsoft YaHei"/>
              </a:rPr>
              <a:t xml:space="preserve"> 10%</a:t>
            </a:r>
            <a:r>
              <a:rPr lang="zh-CN" sz="1350">
                <a:solidFill>
                  <a:srgbClr val="2B3A2B"/>
                </a:solidFill>
                <a:latin typeface="Microsoft YaHei"/>
                <a:ea typeface="Microsoft YaHei"/>
              </a:rPr>
              <a:t>，捉虫每只</a:t>
            </a:r>
            <a:r>
              <a:rPr lang="en-US" sz="1350">
                <a:solidFill>
                  <a:srgbClr val="2B3A2B"/>
                </a:solidFill>
                <a:latin typeface="Microsoft YaHei"/>
                <a:ea typeface="Microsoft YaHei"/>
              </a:rPr>
              <a:t xml:space="preserve"> +10% </a:t>
            </a:r>
            <a:r>
              <a:rPr lang="zh-CN" sz="1350">
                <a:solidFill>
                  <a:srgbClr val="2B3A2B"/>
                </a:solidFill>
                <a:latin typeface="Microsoft YaHei"/>
                <a:ea typeface="Microsoft YaHei"/>
              </a:rPr>
              <a:t>产量（上限</a:t>
            </a:r>
            <a:r>
              <a:rPr lang="en-US" sz="1350">
                <a:solidFill>
                  <a:srgbClr val="2B3A2B"/>
                </a:solidFill>
                <a:latin typeface="Microsoft YaHei"/>
                <a:ea typeface="Microsoft YaHei"/>
              </a:rPr>
              <a:t xml:space="preserve"> +100%</a:t>
            </a:r>
            <a:r>
              <a:rPr lang="zh-CN" sz="1350">
                <a:solidFill>
                  <a:srgbClr val="2B3A2B"/>
                </a:solidFill>
                <a:latin typeface="Microsoft YaHei"/>
                <a:ea typeface="Microsoft YaHei"/>
              </a:rPr>
              <a:t>）；照顾经验</a:t>
            </a:r>
            <a:r>
              <a:rPr lang="en-US" sz="1350">
                <a:solidFill>
                  <a:srgbClr val="2B3A2B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350">
                <a:solidFill>
                  <a:srgbClr val="2B3A2B"/>
                </a:solidFill>
                <a:latin typeface="Microsoft YaHei"/>
                <a:ea typeface="Microsoft YaHei"/>
              </a:rPr>
              <a:t>作物等级</a:t>
            </a:r>
            <a:r>
              <a:rPr lang="en-US" sz="1350">
                <a:solidFill>
                  <a:srgbClr val="2B3A2B"/>
                </a:solidFill>
                <a:latin typeface="Microsoft YaHei"/>
                <a:ea typeface="Microsoft YaHei"/>
              </a:rPr>
              <a:t xml:space="preserve"> ÷ 10</a:t>
            </a:r>
            <a:r>
              <a:rPr lang="zh-CN" sz="1350">
                <a:solidFill>
                  <a:srgbClr val="2B3A2B"/>
                </a:solidFill>
                <a:latin typeface="Microsoft YaHei"/>
                <a:ea typeface="Microsoft YaHei"/>
              </a:rPr>
              <a:t>。</a:t>
            </a:r>
            <a:r>
              <a:rPr lang="zh-CN" sz="1350" b="1">
                <a:solidFill>
                  <a:srgbClr val="C0392B"/>
                </a:solidFill>
                <a:latin typeface="Microsoft YaHei"/>
                <a:ea typeface="Microsoft YaHei"/>
              </a:rPr>
              <a:t>欠水</a:t>
            </a:r>
            <a:r>
              <a:rPr lang="en-US" sz="1350" b="1">
                <a:solidFill>
                  <a:srgbClr val="C0392B"/>
                </a:solidFill>
                <a:latin typeface="Microsoft YaHei"/>
                <a:ea typeface="Microsoft YaHei"/>
              </a:rPr>
              <a:t xml:space="preserve"> −15%</a:t>
            </a:r>
            <a:r>
              <a:rPr lang="zh-CN" sz="1350" b="1">
                <a:solidFill>
                  <a:srgbClr val="C0392B"/>
                </a:solidFill>
                <a:latin typeface="Microsoft YaHei"/>
                <a:ea typeface="Microsoft YaHei"/>
              </a:rPr>
              <a:t>、欠虫</a:t>
            </a:r>
            <a:r>
              <a:rPr lang="en-US" sz="1350" b="1">
                <a:solidFill>
                  <a:srgbClr val="C0392B"/>
                </a:solidFill>
                <a:latin typeface="Microsoft YaHei"/>
                <a:ea typeface="Microsoft YaHei"/>
              </a:rPr>
              <a:t xml:space="preserve"> −40%</a:t>
            </a:r>
            <a:r>
              <a:rPr lang="en-US" sz="1350">
                <a:solidFill>
                  <a:srgbClr val="2B3A2B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2B3A2B"/>
                </a:solidFill>
                <a:latin typeface="Microsoft YaHei"/>
                <a:ea typeface="Microsoft YaHei"/>
              </a:rPr>
              <a:t>勤快才有好收成。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571500" y="5200650"/>
            <a:ext cx="11049000" cy="295275"/>
          </a:xfrm>
          <a:custGeom>
            <a:pathLst>
              <a:path w="1160" h="31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0EFD9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71500" y="5324475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7E6E"/>
                </a:solidFill>
                <a:latin typeface="Microsoft YaHei"/>
                <a:ea typeface="Microsoft YaHei"/>
              </a:rPr>
              <a:t>西米的农场</a:t>
            </a:r>
            <a:r>
              <a:rPr lang="en-US" sz="1050">
                <a:solidFill>
                  <a:srgbClr val="6E7E6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E7E6E"/>
                </a:solidFill>
                <a:latin typeface="Microsoft YaHei"/>
                <a:ea typeface="Microsoft YaHei"/>
              </a:rPr>
              <a:t>打开即玩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E9E5B"/>
                </a:solidFill>
                <a:latin typeface="Microsoft YaHei"/>
                <a:ea typeface="Microsoft YaHei"/>
              </a:rPr>
              <a:t>种满你的</a:t>
            </a:r>
            <a:r>
              <a:rPr lang="en-US" sz="2550" b="1">
                <a:solidFill>
                  <a:srgbClr val="2E9E5B"/>
                </a:solidFill>
                <a:latin typeface="Microsoft YaHei"/>
                <a:ea typeface="Microsoft YaHei"/>
              </a:rPr>
              <a:t xml:space="preserve"> 40 </a:t>
            </a:r>
            <a:r>
              <a:rPr lang="zh-CN" sz="2550" b="1">
                <a:solidFill>
                  <a:srgbClr val="2E9E5B"/>
                </a:solidFill>
                <a:latin typeface="Microsoft YaHei"/>
                <a:ea typeface="Microsoft YaHei"/>
              </a:rPr>
              <a:t>块地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p/>
        </p:txBody>
      </p:sp>
      <p:pic>
        <p:nvPicPr>
          <p:cNvPr id="124" name="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201400" y="571500"/>
            <a:ext cx="419100" cy="419100"/>
          </a:xfrm>
          <a:prstGeom prst="rect">
            <a:avLst/>
          </a:prstGeom>
          <a:ln/>
        </p:spPr>
      </p:pic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6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6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6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6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6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6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6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6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6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6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300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303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306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6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25" name="" descr="&lt;Slide style={{ padding: 60, background: '#F4FAEF', display: 'flex', flexDirection: 'column' }}&gt;&#10;  &lt;Animation animType=&quot;fadeIn&quot; duration={500}&gt;&#10;    &lt;Box style={{ position: 'relative' }}&gt;&#10;      &lt;Text style={{ fontSize: 34, fontWeight: 'bold', color: '#2E9E5B' }}&gt;养条好狗，看家护院&lt;/Text&gt;&#10;      &lt;Box style={{ width: '100%', height: 1, background: '#2E9E5B', marginTop: 14 }} /&gt;&#10;      &lt;Box style={{ position: 'absolute', top: 0, right: 0, width: 44, height: 44, opacity: 0.9 }}&gt;&#10;        &lt;svg width=&quot;44&quot; height=&quot;44&quot; viewBox=&quot;0 0 100 100&quot;&gt;&#10;          &lt;path d=&quot;M50 94 V40&quot; stroke=&quot;#2E9E5B&quot; strokeWidth=&quot;6&quot; strokeLinecap=&quot;round&quot; fill=&quot;none&quot; /&gt;&#10;          &lt;path d=&quot;M50 58 C30 58 18 44 18 30 C38 30 50 42 50 58 Z&quot; fill=&quot;#2E9E5B&quot; /&gt;&#10;          &lt;path d=&quot;M50 50 C70 50 82 36 82 22 C62 22 50 34 50 50 Z&quot; fill=&quot;#7CC47F&quot; /&gt;&#10;        &lt;/svg&gt;&#10;      &lt;/Box&gt;&#10;    &lt;/Box&gt;&#10;  &lt;/Animation&gt;&#10;&#10;  &lt;Box style={{ flex: 1, flexDirection: 'row', gap: 40, alignItems: 'center', marginTop: 24 }}&gt;&#10;    &lt;Animation animType=&quot;flyIn&quot; direction=&quot;left&quot; startType=&quot;afterPrevious&quot; duration={600}&gt;&#10;      &lt;Box style={{ width: 520, borderRadius: 16, overflow: 'hidden', border: '1px solid #D8EBD2', boxShadow: '0 8px 24px rgba(46,158,91,0.12)' }}&gt;&#10;        &lt;Image src=&quot;assets/log_npc.png&quot; style={{ width: 520, height: 366, objectFit: 'cover', display: 'block' }} /&gt;&#10;      &lt;/Box&gt;&#10;    &lt;/Animation&gt;&#10;&#10;    &lt;Animation animType=&quot;fadeIn&quot; startType=&quot;afterPrevious&quot; duration={600}&gt;&#10;      &lt;Box style={{ flex: 1, flexDirection: 'column', gap: 18 }}&gt;&#10;        &lt;Box style={{ flexDirection: 'row', gap: 16, alignItems: 'flex-start' }}&gt;&#10;          &lt;Box style={{ width: 10, height: 10, borderRadius: 3, background: '#F2A33C', marginTop: 9 }} /&gt;&#10;          &lt;Box&gt;&#10;            &lt;Text style={{ fontSize: 22, fontWeight: 'bold', color: '#2B3A2B' }}&gt;10 种犬，越强越能拦&lt;/Text&gt;&#10;            &lt;Text style={{ fontSize: 18, color: '#4A5A4A', marginTop: 6, lineHeight: 1.5 }}&gt;比熊 20% 到龙犬 80% 拦截率，选一只上岗&lt;/Text&gt;&#10;          &lt;/Box&gt;&#10;        &lt;/Box&gt;&#10;        &lt;Box style={{ flexDirection: 'row', gap: 16, alignItems: 'flex-start' }}&gt;&#10;          &lt;Box style={{ width: 10, height: 10, borderRadius: 3, background: '#F2A33C', marginTop: 9 }} /&gt;&#10;          &lt;Box&gt;&#10;            &lt;Text style={{ fontSize: 22, fontWeight: 'bold', color: '#2B3A2B' }}&gt;越饱越卖力&lt;/Text&gt;&#10;            &lt;Text style={{ fontSize: 18, color: '#4A5A4A', marginTop: 6, lineHeight: 1.5 }}&gt;拦截率 = 基础 ×（0.5 + 0.5 × 饱腹度/100）&lt;/Text&gt;&#10;          &lt;/Box&gt;&#10;        &lt;/Box&gt;&#10;        &lt;Box style={{ flexDirection: 'row', gap: 16, alignItems: 'flex-start' }}&gt;&#10;          &lt;Box style={{ width: 10, height: 10, borderRadius: 3, background: '#F2A33C', marginTop: 9 }} /&gt;&#10;          &lt;Box&gt;&#10;            &lt;Text style={{ fontSize: 22, fontWeight: 'bold', color: '#2B3A2B' }}&gt;抓贼不手软&lt;/Text&gt;&#10;            &lt;Text style={{ fontSize: 18, color: '#4A5A4A', marginTop: 6, lineHeight: 1.5 }}&gt;罚款 = 售价 × 5，偷菜贼好感大跌&lt;/Text&gt;&#10;          &lt;/Box&gt;&#10;        &lt;/Box&gt;&#10;        &lt;Box style={{ background: '#FFF6E9', borderRadius: 10, padding: '14px 18px', borderLeft: '4px solid #F2A33C' }}&gt;&#10;          &lt;Text style={{ fontSize: 17, color: '#7A5A1E', lineHeight: 1.5 }}&gt;游戏里真实一幕：守护犬把赵老板赶走了，罚了 12 金币（拦截率 40%）&lt;/Text&gt;&#10;        &lt;/Box&gt;&#10;      &lt;/Box&gt;&#10;    &lt;/Animation&gt;&#10;  &lt;/Box&gt;&#10;&#10;  &lt;Box style={{ marginTop: 16, paddingTop: 12, borderTop: '1px solid #E0EFD9' }}&gt;&#10;    &lt;Text style={{ fontSize: 14, color: '#6E7E6E' }}&gt;西米的农场 · 打开即玩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AEF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571500" y="1847850"/>
            <a:ext cx="4953000" cy="3486150"/>
          </a:xfrm>
          <a:prstGeom prst="roundRect">
            <a:avLst>
              <a:gd name="adj" fmla="val 4372"/>
            </a:avLst>
          </a:prstGeom>
          <a:ln w="12700">
            <a:solidFill>
              <a:srgbClr val="D8EBD2"/>
            </a:solidFill>
            <a:prstDash val="solid"/>
          </a:ln>
          <a:effectLst>
            <a:outerShdw blurRad="228600" dist="76200" dir="5400000">
              <a:srgbClr val="2E9E5B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28" name=""/>
          <p:cNvPicPr>
            <a:picLocks noChangeAspect="1"/>
          </p:cNvPicPr>
          <p:nvPr/>
        </p:nvPicPr>
        <p:blipFill>
          <a:blip r:embed="rId1"/>
          <a:srcRect l="51" t="0" r="51" b="0"/>
          <a:stretch>
            <a:fillRect/>
          </a:stretch>
        </p:blipFill>
        <p:spPr>
          <a:xfrm rot="0" flipH="0" flipV="0">
            <a:off x="571500" y="1847850"/>
            <a:ext cx="4953000" cy="3486150"/>
          </a:xfrm>
          <a:custGeom>
            <a:pathLst>
              <a:path w="520" h="366">
                <a:moveTo>
                  <a:pt x="504" y="0"/>
                </a:moveTo>
                <a:cubicBezTo>
                  <a:pt x="513" y="0"/>
                  <a:pt x="520" y="7"/>
                  <a:pt x="520" y="16"/>
                </a:cubicBezTo>
                <a:lnTo>
                  <a:pt x="520" y="350"/>
                </a:lnTo>
                <a:cubicBezTo>
                  <a:pt x="520" y="359"/>
                  <a:pt x="513" y="366"/>
                  <a:pt x="504" y="366"/>
                </a:cubicBezTo>
                <a:lnTo>
                  <a:pt x="16" y="366"/>
                </a:lnTo>
                <a:cubicBezTo>
                  <a:pt x="7" y="366"/>
                  <a:pt x="0" y="359"/>
                  <a:pt x="0" y="3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504" y="0"/>
                </a:lnTo>
                <a:close/>
              </a:path>
            </a:pathLst>
          </a:custGeom>
          <a:ln/>
        </p:spPr>
      </p:pic>
      <p:sp>
        <p:nvSpPr>
          <p:cNvPr id="129" name=""/>
          <p:cNvSpPr/>
          <p:nvPr/>
        </p:nvSpPr>
        <p:spPr>
          <a:xfrm rot="0" flipH="0" flipV="0">
            <a:off x="5905500" y="22002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2A33C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153150" y="211455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B3A2B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种犬，越强越能拦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153150" y="2428875"/>
            <a:ext cx="331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比熊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20%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到龙犬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80%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拦截率，选一只上岗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5905500" y="30003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2A33C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153150" y="2914650"/>
            <a:ext cx="34385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越饱越卖力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153150" y="3228975"/>
            <a:ext cx="34385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拦截率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基础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×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（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0.5 + 0.5 ×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饱腹度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>/100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5905500" y="38004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2A33C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153150" y="3714750"/>
            <a:ext cx="2619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抓贼不手软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153150" y="4029075"/>
            <a:ext cx="26193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罚款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售价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× 5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，偷菜贼好感大跌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5943600" y="4514850"/>
            <a:ext cx="5715000" cy="561975"/>
          </a:xfrm>
          <a:prstGeom prst="roundRect">
            <a:avLst>
              <a:gd name="adj" fmla="val 16949"/>
            </a:avLst>
          </a:prstGeom>
          <a:solidFill>
            <a:srgbClr val="FFF6E9"/>
          </a:solidFill>
          <a:ln/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5943600" y="4514850"/>
            <a:ext cx="5715000" cy="561975"/>
          </a:xfrm>
          <a:custGeom>
            <a:pathLst>
              <a:path w="600" h="59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3"/>
                </a:lnTo>
                <a:cubicBezTo>
                  <a:pt x="4" y="56"/>
                  <a:pt x="6" y="58"/>
                  <a:pt x="9" y="59"/>
                </a:cubicBezTo>
                <a:cubicBezTo>
                  <a:pt x="4" y="58"/>
                  <a:pt x="0" y="54"/>
                  <a:pt x="0" y="4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2A33C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115050" y="4648200"/>
            <a:ext cx="53340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7A5A1E"/>
                </a:solidFill>
                <a:latin typeface="Microsoft YaHei"/>
                <a:ea typeface="Microsoft YaHei"/>
              </a:rPr>
              <a:t>游戏里真实一幕：守护犬把赵老板赶走了，罚了</a:t>
            </a:r>
            <a:r>
              <a:rPr lang="en-US" sz="1275">
                <a:solidFill>
                  <a:srgbClr val="7A5A1E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275">
                <a:solidFill>
                  <a:srgbClr val="7A5A1E"/>
                </a:solidFill>
                <a:latin typeface="Microsoft YaHei"/>
                <a:ea typeface="Microsoft YaHei"/>
              </a:rPr>
              <a:t>金币（拦截率</a:t>
            </a:r>
            <a:r>
              <a:rPr lang="en-US" sz="1275">
                <a:solidFill>
                  <a:srgbClr val="7A5A1E"/>
                </a:solidFill>
                <a:latin typeface="Microsoft YaHei"/>
                <a:ea typeface="Microsoft YaHei"/>
              </a:rPr>
              <a:t xml:space="preserve"> 40%</a:t>
            </a:r>
            <a:r>
              <a:rPr lang="zh-CN" sz="1275">
                <a:solidFill>
                  <a:srgbClr val="7A5A1E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571500" y="6000750"/>
            <a:ext cx="11049000" cy="295275"/>
          </a:xfrm>
          <a:custGeom>
            <a:pathLst>
              <a:path w="1160" h="31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0EFD9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71500" y="6124575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7E6E"/>
                </a:solidFill>
                <a:latin typeface="Microsoft YaHei"/>
                <a:ea typeface="Microsoft YaHei"/>
              </a:rPr>
              <a:t>西米的农场</a:t>
            </a:r>
            <a:r>
              <a:rPr lang="en-US" sz="1050">
                <a:solidFill>
                  <a:srgbClr val="6E7E6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E7E6E"/>
                </a:solidFill>
                <a:latin typeface="Microsoft YaHei"/>
                <a:ea typeface="Microsoft YaHei"/>
              </a:rPr>
              <a:t>打开即玩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E9E5B"/>
                </a:solidFill>
                <a:latin typeface="Microsoft YaHei"/>
                <a:ea typeface="Microsoft YaHei"/>
              </a:rPr>
              <a:t>养条好狗，看家护院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p/>
        </p:txBody>
      </p:sp>
      <p:pic>
        <p:nvPicPr>
          <p:cNvPr id="145" name="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201400" y="571500"/>
            <a:ext cx="419100" cy="419100"/>
          </a:xfrm>
          <a:prstGeom prst="rect">
            <a:avLst/>
          </a:prstGeom>
          <a:ln/>
        </p:spPr>
      </p:pic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0" dur="6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1" dur="6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6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6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6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6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6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6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6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6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6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6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6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35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7" dur="6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8" dur="6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35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6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6" name="" descr="&lt;Slide style={{ padding: 60, background: '#F4FAEF', display: 'flex', flexDirection: 'column' }}&gt;&#10;  &lt;Animation animType=&quot;fadeIn&quot; duration={500}&gt;&#10;    &lt;Box style={{ position: 'relative' }}&gt;&#10;      &lt;Text style={{ fontSize: 34, fontWeight: 'bold', color: '#2E9E5B' }}&gt;32 位邻居，每天串门&lt;/Text&gt;&#10;      &lt;Box style={{ width: '100%', height: 1, background: '#2E9E5B', marginTop: 14 }} /&gt;&#10;      &lt;Box style={{ position: 'absolute', top: 0, right: 0, width: 44, height: 44, opacity: 0.9 }}&gt;&#10;        &lt;svg width=&quot;44&quot; height=&quot;44&quot; viewBox=&quot;0 0 100 100&quot;&gt;&#10;          &lt;path d=&quot;M50 94 V40&quot; stroke=&quot;#2E9E5B&quot; strokeWidth=&quot;6&quot; strokeLinecap=&quot;round&quot; fill=&quot;none&quot; /&gt;&#10;          &lt;path d=&quot;M50 58 C30 58 18 44 18 30 C38 30 50 42 50 58 Z&quot; fill=&quot;#2E9E5B&quot; /&gt;&#10;          &lt;path d=&quot;M50 50 C70 50 82 36 82 22 C62 22 50 34 50 50 Z&quot; fill=&quot;#7CC47F&quot; /&gt;&#10;        &lt;/svg&gt;&#10;      &lt;/Box&gt;&#10;    &lt;/Box&gt;&#10;  &lt;/Animation&gt;&#10;&#10;  &lt;Box style={{ flex: 1, flexDirection: 'row', gap: 40, alignItems: 'center', marginTop: 24 }}&gt;&#10;    &lt;Animation animType=&quot;fadeIn&quot; startType=&quot;afterPrevious&quot; duration={600}&gt;&#10;      &lt;Box style={{ flex: 1, flexDirection: 'column', gap: 16 }}&gt;&#10;        &lt;Box style={{ flexDirection: 'row', gap: 16, alignItems: 'flex-start' }}&gt;&#10;          &lt;Box style={{ width: 10, height: 10, borderRadius: 3, background: '#F2A33C', marginTop: 9 }} /&gt;&#10;          &lt;Box&gt;&#10;            &lt;Text style={{ fontSize: 22, fontWeight: 'bold', color: '#2B3A2B' }}&gt;帮忙串门&lt;/Text&gt;&#10;            &lt;Text style={{ fontSize: 18, color: '#4A5A4A', marginTop: 6, lineHeight: 1.5 }}&gt;帮邻居浇水、杀虫，自己也能涨好感&lt;/Text&gt;&#10;          &lt;/Box&gt;&#10;        &lt;/Box&gt;&#10;        &lt;Box style={{ flexDirection: 'row', gap: 16, alignItems: 'flex-start' }}&gt;&#10;          &lt;Box style={{ width: 10, height: 10, borderRadius: 3, background: '#F2A33C', marginTop: 9 }} /&gt;&#10;          &lt;Box&gt;&#10;            &lt;Text style={{ fontSize: 22, fontWeight: 'bold', color: '#2B3A2B' }}&gt;送礼拉好感&lt;/Text&gt;&#10;            &lt;Text style={{ fontSize: 18, color: '#4A5A4A', marginTop: 6, lineHeight: 1.5 }}&gt;送仓库里的产出，按作物等级涨好感&lt;/Text&gt;&#10;          &lt;/Box&gt;&#10;        &lt;/Box&gt;&#10;        &lt;Box style={{ flexDirection: 'row', gap: 16, alignItems: 'flex-start' }}&gt;&#10;          &lt;Box style={{ width: 10, height: 10, borderRadius: 3, background: '#F2A33C', marginTop: 9 }} /&gt;&#10;          &lt;Box&gt;&#10;            &lt;Text style={{ fontSize: 22, fontWeight: 'bold', color: '#2B3A2B' }}&gt;偷偷菜&lt;/Text&gt;&#10;            &lt;Text style={{ fontSize: 18, color: '#4A5A4A', marginTop: 6, lineHeight: 1.5 }}&gt;每块地每轮偷 1 个，被狗抓住就惨了&lt;/Text&gt;&#10;          &lt;/Box&gt;&#10;        &lt;/Box&gt;&#10;        &lt;Box style={{ flexDirection: 'row', gap: 16, alignItems: 'flex-start' }}&gt;&#10;          &lt;Box style={{ width: 10, height: 10, borderRadius: 3, background: '#F2A33C', marginTop: 9 }} /&gt;&#10;          &lt;Box&gt;&#10;            &lt;Text style={{ fontSize: 22, fontWeight: 'bold', color: '#2B3A2B' }}&gt;越熟越帮忙&lt;/Text&gt;&#10;            &lt;Text style={{ fontSize: 18, color: '#4A5A4A', marginTop: 6, lineHeight: 1.5 }}&gt;好感 ≥100，邻居主动来帮你、按性格送礼&lt;/Text&gt;&#10;          &lt;/Box&gt;&#10;        &lt;/Box&gt;&#10;        &lt;Box style={{ background: '#EAF5E2', borderRadius: 10, padding: '14px 18px' }}&gt;&#10;          &lt;Text style={{ fontSize: 17, color: '#2B3A2B', lineHeight: 1.5 }}&gt;好感度区间 −200 ~ 200，关系全靠日常经营。&lt;/Text&gt;&#10;        &lt;/Box&gt;&#10;      &lt;/Box&gt;&#10;    &lt;/Animation&gt;&#10;&#10;    &lt;Animation animType=&quot;flyIn&quot; direction=&quot;right&quot; startType=&quot;afterPrevious&quot; duration={600}&gt;&#10;      &lt;Box style={{ width: 520, borderRadius: 16, overflow: 'hidden', border: '1px solid #D8EBD2', boxShadow: '0 8px 24px rgba(46,158,91,0.12)' }}&gt;&#10;        &lt;Image src=&quot;assets/neighbor.png&quot; style={{ width: 520, height: 366, objectFit: 'cover', display: 'block' }} /&gt;&#10;      &lt;/Box&gt;&#10;    &lt;/Animation&gt;&#10;  &lt;/Box&gt;&#10;&#10;  &lt;Box style={{ marginTop: 16, paddingTop: 12, borderTop: '1px solid #E0EFD9' }}&gt;&#10;    &lt;Text style={{ fontSize: 14, color: '#6E7E6E' }}&gt;西米的农场 · 打开即玩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AEF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571500" y="183832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2A33C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19150" y="1752600"/>
            <a:ext cx="274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帮忙串门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19150" y="2066925"/>
            <a:ext cx="2743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帮邻居浇水、杀虫，自己也能涨好感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571500" y="26193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2A33C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19150" y="2533650"/>
            <a:ext cx="274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送礼拉好感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19150" y="2847975"/>
            <a:ext cx="2743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送仓库里的产出，按作物等级涨好感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571500" y="340042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2A33C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19150" y="3314700"/>
            <a:ext cx="2781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偷偷菜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19150" y="3629025"/>
            <a:ext cx="27813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每块地每轮偷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个，被狗抓住就惨了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571500" y="41814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2A33C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19150" y="4095750"/>
            <a:ext cx="3228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越熟越帮忙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19150" y="4410075"/>
            <a:ext cx="32289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好感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≥100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，邻居主动来帮你、按性格送礼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571500" y="4876800"/>
            <a:ext cx="5715000" cy="561975"/>
          </a:xfrm>
          <a:prstGeom prst="roundRect">
            <a:avLst>
              <a:gd name="adj" fmla="val 16949"/>
            </a:avLst>
          </a:prstGeom>
          <a:solidFill>
            <a:srgbClr val="EAF5E2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42950" y="5010150"/>
            <a:ext cx="5372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2B3A2B"/>
                </a:solidFill>
                <a:latin typeface="Microsoft YaHei"/>
                <a:ea typeface="Microsoft YaHei"/>
              </a:rPr>
              <a:t>好感度区间</a:t>
            </a:r>
            <a:r>
              <a:rPr lang="en-US" sz="1275">
                <a:solidFill>
                  <a:srgbClr val="2B3A2B"/>
                </a:solidFill>
                <a:latin typeface="Microsoft YaHei"/>
                <a:ea typeface="Microsoft YaHei"/>
              </a:rPr>
              <a:t xml:space="preserve"> −200 ~ 200</a:t>
            </a:r>
            <a:r>
              <a:rPr lang="zh-CN" sz="1275">
                <a:solidFill>
                  <a:srgbClr val="2B3A2B"/>
                </a:solidFill>
                <a:latin typeface="Microsoft YaHei"/>
                <a:ea typeface="Microsoft YaHei"/>
              </a:rPr>
              <a:t>，关系全靠日常经营。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667500" y="1847850"/>
            <a:ext cx="4953000" cy="3486150"/>
          </a:xfrm>
          <a:prstGeom prst="roundRect">
            <a:avLst>
              <a:gd name="adj" fmla="val 4372"/>
            </a:avLst>
          </a:prstGeom>
          <a:ln w="12700">
            <a:solidFill>
              <a:srgbClr val="D8EBD2"/>
            </a:solidFill>
            <a:prstDash val="solid"/>
          </a:ln>
          <a:effectLst>
            <a:outerShdw blurRad="228600" dist="76200" dir="5400000">
              <a:srgbClr val="2E9E5B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63" name=""/>
          <p:cNvPicPr>
            <a:picLocks noChangeAspect="1"/>
          </p:cNvPicPr>
          <p:nvPr/>
        </p:nvPicPr>
        <p:blipFill>
          <a:blip r:embed="rId1"/>
          <a:srcRect l="51" t="0" r="51" b="0"/>
          <a:stretch>
            <a:fillRect/>
          </a:stretch>
        </p:blipFill>
        <p:spPr>
          <a:xfrm rot="0" flipH="0" flipV="0">
            <a:off x="6667500" y="1847850"/>
            <a:ext cx="4953000" cy="3486150"/>
          </a:xfrm>
          <a:custGeom>
            <a:pathLst>
              <a:path w="520" h="366">
                <a:moveTo>
                  <a:pt x="504" y="0"/>
                </a:moveTo>
                <a:cubicBezTo>
                  <a:pt x="513" y="0"/>
                  <a:pt x="520" y="7"/>
                  <a:pt x="520" y="16"/>
                </a:cubicBezTo>
                <a:lnTo>
                  <a:pt x="520" y="350"/>
                </a:lnTo>
                <a:cubicBezTo>
                  <a:pt x="520" y="359"/>
                  <a:pt x="513" y="366"/>
                  <a:pt x="504" y="366"/>
                </a:cubicBezTo>
                <a:lnTo>
                  <a:pt x="16" y="366"/>
                </a:lnTo>
                <a:cubicBezTo>
                  <a:pt x="7" y="366"/>
                  <a:pt x="0" y="359"/>
                  <a:pt x="0" y="3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504" y="0"/>
                </a:lnTo>
                <a:close/>
              </a:path>
            </a:pathLst>
          </a:custGeom>
          <a:ln/>
        </p:spPr>
      </p:pic>
      <p:sp>
        <p:nvSpPr>
          <p:cNvPr id="164" name=""/>
          <p:cNvSpPr/>
          <p:nvPr/>
        </p:nvSpPr>
        <p:spPr>
          <a:xfrm rot="0" flipH="0" flipV="0">
            <a:off x="571500" y="6000750"/>
            <a:ext cx="11049000" cy="295275"/>
          </a:xfrm>
          <a:custGeom>
            <a:pathLst>
              <a:path w="1160" h="31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0EFD9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71500" y="6124575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7E6E"/>
                </a:solidFill>
                <a:latin typeface="Microsoft YaHei"/>
                <a:ea typeface="Microsoft YaHei"/>
              </a:rPr>
              <a:t>西米的农场</a:t>
            </a:r>
            <a:r>
              <a:rPr lang="en-US" sz="1050">
                <a:solidFill>
                  <a:srgbClr val="6E7E6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E7E6E"/>
                </a:solidFill>
                <a:latin typeface="Microsoft YaHei"/>
                <a:ea typeface="Microsoft YaHei"/>
              </a:rPr>
              <a:t>打开即玩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E9E5B"/>
                </a:solidFill>
                <a:latin typeface="Microsoft YaHei"/>
                <a:ea typeface="Microsoft YaHei"/>
              </a:rPr>
              <a:t xml:space="preserve">32 </a:t>
            </a:r>
            <a:r>
              <a:rPr lang="zh-CN" sz="2550" b="1">
                <a:solidFill>
                  <a:srgbClr val="2E9E5B"/>
                </a:solidFill>
                <a:latin typeface="Microsoft YaHei"/>
                <a:ea typeface="Microsoft YaHei"/>
              </a:rPr>
              <a:t>位邻居，每天串门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p/>
        </p:txBody>
      </p:sp>
      <p:pic>
        <p:nvPicPr>
          <p:cNvPr id="168" name="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201400" y="571500"/>
            <a:ext cx="419100" cy="419100"/>
          </a:xfrm>
          <a:prstGeom prst="rect">
            <a:avLst/>
          </a:prstGeom>
          <a:ln/>
        </p:spPr>
      </p:pic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6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6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6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6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6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6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6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6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6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0" dur="6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6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6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6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2" presetClass="entr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2" dur="6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3" dur="6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41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6" dur="6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417" presetID="2" presetClass="entr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9" dur="6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0" dur="6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69" name="" descr="&lt;Slide style={{ padding: 60, background: '#F4FAEF', display: 'flex', flexDirection: 'column' }}&gt;&#10;  &lt;Animation animType=&quot;fadeIn&quot; duration={500}&gt;&#10;    &lt;Box style={{ position: 'relative' }}&gt;&#10;      &lt;Text style={{ fontSize: 34, fontWeight: 'bold', color: '#2E9E5B' }}&gt;买张藏宝图，去挖限定种子&lt;/Text&gt;&#10;      &lt;Box style={{ width: '100%', height: 1, background: '#2E9E5B', marginTop: 14 }} /&gt;&#10;      &lt;Box style={{ position: 'absolute', top: 0, right: 0, width: 44, height: 44, opacity: 0.9 }}&gt;&#10;        &lt;svg width=&quot;44&quot; height=&quot;44&quot; viewBox=&quot;0 0 100 100&quot;&gt;&#10;          &lt;path d=&quot;M50 94 V40&quot; stroke=&quot;#2E9E5B&quot; strokeWidth=&quot;6&quot; strokeLinecap=&quot;round&quot; fill=&quot;none&quot; /&gt;&#10;          &lt;path d=&quot;M50 58 C30 58 18 44 18 30 C38 30 50 42 50 58 Z&quot; fill=&quot;#2E9E5B&quot; /&gt;&#10;          &lt;path d=&quot;M50 50 C70 50 82 36 82 22 C62 22 50 34 50 50 Z&quot; fill=&quot;#7CC47F&quot; /&gt;&#10;        &lt;/svg&gt;&#10;      &lt;/Box&gt;&#10;    &lt;/Box&gt;&#10;  &lt;/Animation&gt;&#10;&#10;  &lt;Box style={{ flex: 1, flexDirection: 'row', gap: 44, alignItems: 'center', marginTop: 24 }}&gt;&#10;    &lt;Animation animType=&quot;zoom&quot; startType=&quot;afterPrevious&quot; duration={600}&gt;&#10;      &lt;Box style={{ width: 360, height: 372, borderRadius: 18, background: 'linear-gradient(150deg, #F2A33C, #E08A1E)', alignItems: 'center', justifyContent: 'center', gap: 14, boxShadow: '0 10px 28px rgba(242,163,60,0.28)' }}&gt;&#10;        &lt;svg width=&quot;120&quot; height=&quot;120&quot; viewBox=&quot;0 0 100 100&quot;&gt;&#10;          &lt;rect x=&quot;12&quot; y=&quot;14&quot; width=&quot;76&quot; height=&quot;72&quot; rx=&quot;8&quot; fill=&quot;none&quot; stroke=&quot;#FFFFFF&quot; strokeWidth=&quot;4&quot; /&gt;&#10;          &lt;path d=&quot;M26 72 Q40 42 56 54 T80 30&quot; fill=&quot;none&quot; stroke=&quot;#FFFFFF&quot; strokeWidth=&quot;3&quot; strokeDasharray=&quot;5 5&quot; /&gt;&#10;          &lt;circle cx=&quot;80&quot; cy=&quot;30&quot; r=&quot;6&quot; fill=&quot;#FFFFFF&quot; /&gt;&#10;          &lt;path d=&quot;M22 26 L30 34 M30 26 L22 34&quot; stroke=&quot;#FFFFFF&quot; strokeWidth=&quot;3&quot; strokeLinecap=&quot;round&quot; /&gt;&#10;        &lt;/svg&gt;&#10;        &lt;Text style={{ fontSize: 30, fontWeight: 'bold', color: '#FFFFFF' }}&gt;藏宝图&lt;/Text&gt;&#10;        &lt;Text style={{ fontSize: 17, color: '#FFF3E0', textAlign: 'center', lineHeight: 1.5 }}&gt;5 档 · 等级与金币达标可进&lt;/Text&gt;&#10;      &lt;/Box&gt;&#10;    &lt;/Animation&gt;&#10;&#10;    &lt;Animation animType=&quot;fadeIn&quot; startType=&quot;afterPrevious&quot; duration={600}&gt;&#10;      &lt;Box style={{ flex: 1, flexDirection: 'column', gap: 18 }}&gt;&#10;        &lt;Box style={{ flexDirection: 'row', gap: 16, alignItems: 'flex-start' }}&gt;&#10;          &lt;Box style={{ width: 10, height: 10, borderRadius: 3, background: '#F2A33C', marginTop: 9 }} /&gt;&#10;          &lt;Box&gt;&#10;            &lt;Text style={{ fontSize: 22, fontWeight: 'bold', color: '#2B3A2B' }}&gt;走格子收集&lt;/Text&gt;&#10;            &lt;Text style={{ fontSize: 18, color: '#4A5A4A', marginTop: 6, lineHeight: 1.5 }}&gt;金币 / 道具 / 限定种子 / 稀有犬种&lt;/Text&gt;&#10;          &lt;/Box&gt;&#10;        &lt;/Box&gt;&#10;        &lt;Box style={{ flexDirection: 'row', gap: 16, alignItems: 'flex-start' }}&gt;&#10;          &lt;Box style={{ width: 10, height: 10, borderRadius: 3, background: '#F2A33C', marginTop: 9 }} /&gt;&#10;          &lt;Box&gt;&#10;            &lt;Text style={{ fontSize: 22, fontWeight: 'bold', color: '#2B3A2B' }}&gt;限定种子只能挖&lt;/Text&gt;&#10;            &lt;Text style={{ fontSize: 18, color: '#4A5A4A', marginTop: 6, lineHeight: 1.5 }}&gt;商店买不到，是藏宝图的专属收获&lt;/Text&gt;&#10;          &lt;/Box&gt;&#10;        &lt;/Box&gt;&#10;        &lt;Box style={{ flexDirection: 'row', gap: 16, alignItems: 'flex-start' }}&gt;&#10;          &lt;Box style={{ width: 10, height: 10, borderRadius: 3, background: '#F2A33C', marginTop: 9 }} /&gt;&#10;          &lt;Box&gt;&#10;            &lt;Text style={{ fontSize: 22, fontWeight: 'bold', color: '#2B3A2B' }}&gt;5 档难度&lt;/Text&gt;&#10;            &lt;Text style={{ fontSize: 18, color: '#4A5A4A', marginTop: 6, lineHeight: 1.5 }}&gt;等级与金币都要达标，越深越值钱&lt;/Text&gt;&#10;          &lt;/Box&gt;&#10;        &lt;/Box&gt;&#10;        &lt;Box style={{ background: '#FFF6E9', borderRadius: 10, padding: '14px 18px', borderLeft: '4px solid #F2A33C' }}&gt;&#10;          &lt;Text style={{ fontSize: 17, color: '#7A5A1E', lineHeight: 1.5 }}&gt;限定种子是身份象征 —— 集齐图鉴、冲称号，多半靠它。&lt;/Text&gt;&#10;        &lt;/Box&gt;&#10;      &lt;/Box&gt;&#10;    &lt;/Animation&gt;&#10;  &lt;/Box&gt;&#10;&#10;  &lt;Box style={{ marginTop: 16, paddingTop: 12, borderTop: '1px solid #E0EFD9' }}&gt;&#10;    &lt;Text style={{ fontSize: 14, color: '#6E7E6E' }}&gt;西米的农场 · 打开即玩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AEF"/>
          </a:solidFill>
          <a:ln/>
        </p:spPr>
        <p:txBody>
          <a:bodyPr/>
          <a:p/>
        </p:txBody>
      </p:sp>
      <p:sp>
        <p:nvSpPr>
          <p:cNvPr id="171" name=""/>
          <p:cNvSpPr/>
          <p:nvPr/>
        </p:nvSpPr>
        <p:spPr>
          <a:xfrm rot="0" flipH="0" flipV="0">
            <a:off x="571500" y="1819275"/>
            <a:ext cx="3429000" cy="35433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F2A33C"/>
              </a:gs>
              <a:gs pos="100000">
                <a:srgbClr val="E08A1E"/>
              </a:gs>
            </a:gsLst>
            <a:lin ang="3600000" scaled="1"/>
          </a:gradFill>
          <a:ln/>
          <a:effectLst>
            <a:outerShdw blurRad="266700" dist="95250" dir="5400000">
              <a:srgbClr val="F2A33C">
                <a:alpha val="28000"/>
              </a:srgbClr>
            </a:outerShdw>
          </a:effectLst>
        </p:spPr>
        <p:txBody>
          <a:bodyPr/>
          <a:p/>
        </p:txBody>
      </p:sp>
      <p:pic>
        <p:nvPicPr>
          <p:cNvPr id="1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714500" y="2571750"/>
            <a:ext cx="1143000" cy="1143000"/>
          </a:xfrm>
          <a:prstGeom prst="rect">
            <a:avLst/>
          </a:prstGeom>
          <a:ln/>
        </p:spPr>
      </p:pic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857375" y="3848100"/>
            <a:ext cx="857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藏宝图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333500" y="4324350"/>
            <a:ext cx="1905000" cy="2952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275">
                <a:solidFill>
                  <a:srgbClr val="FFF3E0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275">
                <a:solidFill>
                  <a:srgbClr val="FFF3E0"/>
                </a:solidFill>
                <a:latin typeface="Microsoft YaHei"/>
                <a:ea typeface="Microsoft YaHei"/>
              </a:rPr>
              <a:t>档</a:t>
            </a:r>
            <a:r>
              <a:rPr lang="en-US" sz="1275">
                <a:solidFill>
                  <a:srgbClr val="FFF3E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FFF3E0"/>
                </a:solidFill>
                <a:latin typeface="Microsoft YaHei"/>
                <a:ea typeface="Microsoft YaHei"/>
              </a:rPr>
              <a:t>等级与金币达标可进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4419600" y="22002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2A33C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667250" y="2114550"/>
            <a:ext cx="2590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走格子收集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4667250" y="2428875"/>
            <a:ext cx="2590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金币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道具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限定种子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稀有犬种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4419600" y="30003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2A33C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667250" y="2914650"/>
            <a:ext cx="2571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限定种子只能挖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667250" y="3228975"/>
            <a:ext cx="25717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商店买不到，是藏宝图的专属收获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4419600" y="38004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2A33C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667250" y="3714750"/>
            <a:ext cx="2571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B3A2B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档难度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667250" y="4029075"/>
            <a:ext cx="25717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等级与金币都要达标，越深越值钱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4457700" y="4514850"/>
            <a:ext cx="7200900" cy="561975"/>
          </a:xfrm>
          <a:prstGeom prst="roundRect">
            <a:avLst>
              <a:gd name="adj" fmla="val 16949"/>
            </a:avLst>
          </a:prstGeom>
          <a:solidFill>
            <a:srgbClr val="FFF6E9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4457700" y="4514850"/>
            <a:ext cx="7200900" cy="561975"/>
          </a:xfrm>
          <a:custGeom>
            <a:pathLst>
              <a:path w="756" h="59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3"/>
                </a:lnTo>
                <a:cubicBezTo>
                  <a:pt x="4" y="56"/>
                  <a:pt x="6" y="58"/>
                  <a:pt x="9" y="59"/>
                </a:cubicBezTo>
                <a:cubicBezTo>
                  <a:pt x="4" y="58"/>
                  <a:pt x="0" y="54"/>
                  <a:pt x="0" y="4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2A33C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629150" y="4648200"/>
            <a:ext cx="68199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7A5A1E"/>
                </a:solidFill>
                <a:latin typeface="Microsoft YaHei"/>
                <a:ea typeface="Microsoft YaHei"/>
              </a:rPr>
              <a:t>限定种子是身份象征</a:t>
            </a:r>
            <a:r>
              <a:rPr lang="en-US" sz="1275">
                <a:solidFill>
                  <a:srgbClr val="7A5A1E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7A5A1E"/>
                </a:solidFill>
                <a:latin typeface="Microsoft YaHei"/>
                <a:ea typeface="Microsoft YaHei"/>
              </a:rPr>
              <a:t>集齐图鉴、冲称号，多半靠它。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571500" y="6000750"/>
            <a:ext cx="11049000" cy="295275"/>
          </a:xfrm>
          <a:custGeom>
            <a:pathLst>
              <a:path w="1160" h="31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0EFD9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571500" y="6124575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7E6E"/>
                </a:solidFill>
                <a:latin typeface="Microsoft YaHei"/>
                <a:ea typeface="Microsoft YaHei"/>
              </a:rPr>
              <a:t>西米的农场</a:t>
            </a:r>
            <a:r>
              <a:rPr lang="en-US" sz="1050">
                <a:solidFill>
                  <a:srgbClr val="6E7E6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E7E6E"/>
                </a:solidFill>
                <a:latin typeface="Microsoft YaHei"/>
                <a:ea typeface="Microsoft YaHei"/>
              </a:rPr>
              <a:t>打开即玩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E9E5B"/>
                </a:solidFill>
                <a:latin typeface="Microsoft YaHei"/>
                <a:ea typeface="Microsoft YaHei"/>
              </a:rPr>
              <a:t>买张藏宝图，去挖限定种子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p/>
        </p:txBody>
      </p:sp>
      <p:pic>
        <p:nvPicPr>
          <p:cNvPr id="191" name="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201400" y="571500"/>
            <a:ext cx="419100" cy="419100"/>
          </a:xfrm>
          <a:prstGeom prst="rect">
            <a:avLst/>
          </a:prstGeom>
          <a:ln/>
        </p:spPr>
      </p:pic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2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2" dur="6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3" dur="6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4" presetID="2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6" dur="6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7" dur="6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8" presetID="2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0" dur="6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1" dur="6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4" dur="6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6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0" dur="6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6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6" dur="6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6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2" dur="6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6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8" dur="6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6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4" dur="6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47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7" dur="6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8" dur="6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47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1" dur="6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92" name="" descr="&lt;Slide style={{ padding: 60, background: '#F4FAEF', display: 'flex', flexDirection: 'column' }}&gt;&#10;  &lt;Animation animType=&quot;fadeIn&quot; duration={500}&gt;&#10;    &lt;Box style={{ position: 'relative' }}&gt;&#10;      &lt;Text style={{ fontSize: 34, fontWeight: 'bold', color: '#2E9E5B' }}&gt;每天 14:00，和全村比一比&lt;/Text&gt;&#10;      &lt;Box style={{ width: '100%', height: 1, background: '#2E9E5B', marginTop: 14 }} /&gt;&#10;      &lt;Box style={{ position: 'absolute', top: 0, right: 0, width: 44, height: 44, opacity: 0.9 }}&gt;&#10;        &lt;svg width=&quot;44&quot; height=&quot;44&quot; viewBox=&quot;0 0 100 100&quot;&gt;&#10;          &lt;path d=&quot;M50 94 V40&quot; stroke=&quot;#2E9E5B&quot; strokeWidth=&quot;6&quot; strokeLinecap=&quot;round&quot; fill=&quot;none&quot; /&gt;&#10;          &lt;path d=&quot;M50 58 C30 58 18 44 18 30 C38 30 50 42 50 58 Z&quot; fill=&quot;#2E9E5B&quot; /&gt;&#10;          &lt;path d=&quot;M50 50 C70 50 82 36 82 22 C62 22 50 34 50 50 Z&quot; fill=&quot;#7CC47F&quot; /&gt;&#10;        &lt;/svg&gt;&#10;      &lt;/Box&gt;&#10;    &lt;/Box&gt;&#10;  &lt;/Animation&gt;&#10;&#10;  &lt;Box style={{ flex: 1, flexDirection: 'row', gap: 40, alignItems: 'center', marginTop: 24 }}&gt;&#10;    &lt;Animation animType=&quot;fadeIn&quot; startType=&quot;afterPrevious&quot; duration={600}&gt;&#10;      &lt;Box style={{ flex: 1, flexDirection: 'column', gap: 16 }}&gt;&#10;        &lt;Box style={{ flexDirection: 'row', gap: 16, alignItems: 'flex-start' }}&gt;&#10;          &lt;Box style={{ width: 10, height: 10, borderRadius: 3, background: '#F2A33C', marginTop: 9 }} /&gt;&#10;          &lt;Box&gt;&#10;            &lt;Text style={{ fontSize: 22, fontWeight: 'bold', color: '#2B3A2B' }}&gt;11 张排行榜&lt;/Text&gt;&#10;            &lt;Text style={{ fontSize: 18, color: '#4A5A4A', marginTop: 6, lineHeight: 1.5 }}&gt;每天 14:00 准时开奖，实时榜同步更新&lt;/Text&gt;&#10;          &lt;/Box&gt;&#10;        &lt;/Box&gt;&#10;        &lt;Box style={{ flexDirection: 'row', gap: 16, alignItems: 'flex-start' }}&gt;&#10;          &lt;Box style={{ width: 10, height: 10, borderRadius: 3, background: '#F2A33C', marginTop: 9 }} /&gt;&#10;          &lt;Box&gt;&#10;            &lt;Text style={{ fontSize: 22, fontWeight: 'bold', color: '#2B3A2B' }}&gt;前三名有奖&lt;/Text&gt;&#10;            &lt;Text style={{ fontSize: 18, color: '#4A5A4A', marginTop: 6, lineHeight: 1.5 }}&gt;并列也一起发，不内卷&lt;/Text&gt;&#10;          &lt;/Box&gt;&#10;        &lt;/Box&gt;&#10;        &lt;Box style={{ flexDirection: 'row', gap: 16, alignItems: 'flex-start' }}&gt;&#10;          &lt;Box style={{ width: 10, height: 10, borderRadius: 3, background: '#F2A33C', marginTop: 9 }} /&gt;&#10;          &lt;Box&gt;&#10;            &lt;Text style={{ fontSize: 22, fontWeight: 'bold', color: '#2B3A2B' }}&gt;榜单很丰富&lt;/Text&gt;&#10;            &lt;Text style={{ fontSize: 18, color: '#4A5A4A', marginTop: 6, lineHeight: 1.5 }}&gt;最友善 / 狗狗王 / 打理王 / 送礼达人 / 农事劳模 / 冒险王…&lt;/Text&gt;&#10;          &lt;/Box&gt;&#10;        &lt;/Box&gt;&#10;        &lt;Box style={{ flexDirection: 'row', gap: 16, alignItems: 'flex-start' }}&gt;&#10;          &lt;Box style={{ width: 10, height: 10, borderRadius: 3, background: '#F2A33C', marginTop: 9 }} /&gt;&#10;          &lt;Box&gt;&#10;            &lt;Text style={{ fontSize: 22, fontWeight: 'bold', color: '#2B3A2B' }}&gt;村庄会长大&lt;/Text&gt;&#10;            &lt;Text style={{ fontSize: 18, color: '#4A5A4A', marginTop: 6, lineHeight: 1.5 }}&gt;投入金币水晶祈福升级，解锁荣耀种子&lt;/Text&gt;&#10;          &lt;/Box&gt;&#10;        &lt;/Box&gt;&#10;        &lt;Box style={{ background: '#EAF5E2', borderRadius: 10, padding: '14px 18px' }}&gt;&#10;          &lt;Text style={{ fontSize: 17, color: '#2B3A2B', lineHeight: 1.5 }}&gt;村民随村庄升级变多，最多 52 位一起热闹。&lt;/Text&gt;&#10;        &lt;/Box&gt;&#10;      &lt;/Box&gt;&#10;    &lt;/Animation&gt;&#10;&#10;    &lt;Animation animType=&quot;flyIn&quot; direction=&quot;right&quot; startType=&quot;afterPrevious&quot; duration={600}&gt;&#10;      &lt;Box style={{ width: 520, borderRadius: 16, overflow: 'hidden', border: '1px solid #D8EBD2', boxShadow: '0 8px 24px rgba(46,158,91,0.12)' }}&gt;&#10;        &lt;Image src=&quot;assets/log_farm.png&quot; style={{ width: 520, height: 366, objectFit: 'cover', display: 'block' }} /&gt;&#10;      &lt;/Box&gt;&#10;    &lt;/Animation&gt;&#10;  &lt;/Box&gt;&#10;&#10;  &lt;Box style={{ marginTop: 16, paddingTop: 12, borderTop: '1px solid #E0EFD9' }}&gt;&#10;    &lt;Text style={{ fontSize: 14, color: '#6E7E6E' }}&gt;西米的农场 · 打开即玩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AEF"/>
          </a:solidFill>
          <a:ln/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571500" y="183832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2A33C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19150" y="1752600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B3A2B"/>
                </a:solidFill>
                <a:latin typeface="Microsoft YaHei"/>
                <a:ea typeface="Microsoft YaHei"/>
              </a:rPr>
              <a:t xml:space="preserve">11 </a:t>
            </a: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张排行榜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19150" y="2066925"/>
            <a:ext cx="29527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每天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14:00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准时开奖，实时榜同步更新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571500" y="26193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2A33C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19150" y="2533650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前三名有奖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19150" y="2847975"/>
            <a:ext cx="1714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并列也一起发，不内卷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571500" y="340042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2A33C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19150" y="3314700"/>
            <a:ext cx="4448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榜单很丰富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19150" y="3629025"/>
            <a:ext cx="44481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最友善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狗狗王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打理王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送礼达人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农事劳模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冒险王…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571500" y="41814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2A33C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19150" y="4095750"/>
            <a:ext cx="2914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村庄会长大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19150" y="4410075"/>
            <a:ext cx="29146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投入金币水晶祈福升级，解锁荣耀种子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571500" y="4876800"/>
            <a:ext cx="5715000" cy="561975"/>
          </a:xfrm>
          <a:prstGeom prst="roundRect">
            <a:avLst>
              <a:gd name="adj" fmla="val 16949"/>
            </a:avLst>
          </a:prstGeom>
          <a:solidFill>
            <a:srgbClr val="EAF5E2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42950" y="5010150"/>
            <a:ext cx="5372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2B3A2B"/>
                </a:solidFill>
                <a:latin typeface="Microsoft YaHei"/>
                <a:ea typeface="Microsoft YaHei"/>
              </a:rPr>
              <a:t>村民随村庄升级变多，最多</a:t>
            </a:r>
            <a:r>
              <a:rPr lang="en-US" sz="1275">
                <a:solidFill>
                  <a:srgbClr val="2B3A2B"/>
                </a:solidFill>
                <a:latin typeface="Microsoft YaHei"/>
                <a:ea typeface="Microsoft YaHei"/>
              </a:rPr>
              <a:t xml:space="preserve"> 52 </a:t>
            </a:r>
            <a:r>
              <a:rPr lang="zh-CN" sz="1275">
                <a:solidFill>
                  <a:srgbClr val="2B3A2B"/>
                </a:solidFill>
                <a:latin typeface="Microsoft YaHei"/>
                <a:ea typeface="Microsoft YaHei"/>
              </a:rPr>
              <a:t>位一起热闹。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6667500" y="1847850"/>
            <a:ext cx="4953000" cy="3486150"/>
          </a:xfrm>
          <a:prstGeom prst="roundRect">
            <a:avLst>
              <a:gd name="adj" fmla="val 4372"/>
            </a:avLst>
          </a:prstGeom>
          <a:ln w="12700">
            <a:solidFill>
              <a:srgbClr val="D8EBD2"/>
            </a:solidFill>
            <a:prstDash val="solid"/>
          </a:ln>
          <a:effectLst>
            <a:outerShdw blurRad="228600" dist="76200" dir="5400000">
              <a:srgbClr val="2E9E5B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209" name=""/>
          <p:cNvPicPr>
            <a:picLocks noChangeAspect="1"/>
          </p:cNvPicPr>
          <p:nvPr/>
        </p:nvPicPr>
        <p:blipFill>
          <a:blip r:embed="rId1"/>
          <a:srcRect l="51" t="0" r="51" b="0"/>
          <a:stretch>
            <a:fillRect/>
          </a:stretch>
        </p:blipFill>
        <p:spPr>
          <a:xfrm rot="0" flipH="0" flipV="0">
            <a:off x="6667500" y="1847850"/>
            <a:ext cx="4953000" cy="3486150"/>
          </a:xfrm>
          <a:custGeom>
            <a:pathLst>
              <a:path w="520" h="366">
                <a:moveTo>
                  <a:pt x="504" y="0"/>
                </a:moveTo>
                <a:cubicBezTo>
                  <a:pt x="513" y="0"/>
                  <a:pt x="520" y="7"/>
                  <a:pt x="520" y="16"/>
                </a:cubicBezTo>
                <a:lnTo>
                  <a:pt x="520" y="350"/>
                </a:lnTo>
                <a:cubicBezTo>
                  <a:pt x="520" y="359"/>
                  <a:pt x="513" y="366"/>
                  <a:pt x="504" y="366"/>
                </a:cubicBezTo>
                <a:lnTo>
                  <a:pt x="16" y="366"/>
                </a:lnTo>
                <a:cubicBezTo>
                  <a:pt x="7" y="366"/>
                  <a:pt x="0" y="359"/>
                  <a:pt x="0" y="3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504" y="0"/>
                </a:lnTo>
                <a:close/>
              </a:path>
            </a:pathLst>
          </a:custGeom>
          <a:ln/>
        </p:spPr>
      </p:pic>
      <p:sp>
        <p:nvSpPr>
          <p:cNvPr id="210" name=""/>
          <p:cNvSpPr/>
          <p:nvPr/>
        </p:nvSpPr>
        <p:spPr>
          <a:xfrm rot="0" flipH="0" flipV="0">
            <a:off x="571500" y="6000750"/>
            <a:ext cx="11049000" cy="295275"/>
          </a:xfrm>
          <a:custGeom>
            <a:pathLst>
              <a:path w="1160" h="31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0EFD9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71500" y="6124575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7E6E"/>
                </a:solidFill>
                <a:latin typeface="Microsoft YaHei"/>
                <a:ea typeface="Microsoft YaHei"/>
              </a:rPr>
              <a:t>西米的农场</a:t>
            </a:r>
            <a:r>
              <a:rPr lang="en-US" sz="1050">
                <a:solidFill>
                  <a:srgbClr val="6E7E6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E7E6E"/>
                </a:solidFill>
                <a:latin typeface="Microsoft YaHei"/>
                <a:ea typeface="Microsoft YaHei"/>
              </a:rPr>
              <a:t>打开即玩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E9E5B"/>
                </a:solidFill>
                <a:latin typeface="Microsoft YaHei"/>
                <a:ea typeface="Microsoft YaHei"/>
              </a:rPr>
              <a:t>每天</a:t>
            </a:r>
            <a:r>
              <a:rPr lang="en-US" sz="2550" b="1">
                <a:solidFill>
                  <a:srgbClr val="2E9E5B"/>
                </a:solidFill>
                <a:latin typeface="Microsoft YaHei"/>
                <a:ea typeface="Microsoft YaHei"/>
              </a:rPr>
              <a:t xml:space="preserve"> 14:00</a:t>
            </a:r>
            <a:r>
              <a:rPr lang="zh-CN" sz="2550" b="1">
                <a:solidFill>
                  <a:srgbClr val="2E9E5B"/>
                </a:solidFill>
                <a:latin typeface="Microsoft YaHei"/>
                <a:ea typeface="Microsoft YaHei"/>
              </a:rPr>
              <a:t>，和全村比一比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p/>
        </p:txBody>
      </p:sp>
      <p:pic>
        <p:nvPicPr>
          <p:cNvPr id="214" name="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201400" y="571500"/>
            <a:ext cx="419100" cy="419100"/>
          </a:xfrm>
          <a:prstGeom prst="rect">
            <a:avLst/>
          </a:prstGeom>
          <a:ln/>
        </p:spPr>
      </p:pic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4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4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0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3" dur="6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6" dur="6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9" dur="6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2" dur="6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6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8" dur="6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6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4" dur="6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7" dur="6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0" dur="6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3" dur="6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6" dur="6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9" dur="6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0" presetID="2" presetClass="entr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2" dur="6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3" dur="6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53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6" dur="6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537" presetID="2" presetClass="entr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9" dur="6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0" dur="6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15" name="" descr="&lt;Slide style={{ padding: 60, background: '#F4FAEF', display: 'flex', flexDirection: 'column' }}&gt;&#10;  &lt;Animation animType=&quot;fadeIn&quot; duration={500}&gt;&#10;    &lt;Box style={{ position: 'relative' }}&gt;&#10;      &lt;Text style={{ fontSize: 34, fontWeight: 'bold', color: '#2E9E5B' }}&gt;图鉴 · 称号 · 记录&lt;/Text&gt;&#10;      &lt;Box style={{ width: '100%', height: 1, background: '#2E9E5B', marginTop: 14 }} /&gt;&#10;      &lt;Box style={{ position: 'absolute', top: 0, right: 0, width: 44, height: 44, opacity: 0.9 }}&gt;&#10;        &lt;svg width=&quot;44&quot; height=&quot;44&quot; viewBox=&quot;0 0 100 100&quot;&gt;&#10;          &lt;path d=&quot;M50 94 V40&quot; stroke=&quot;#2E9E5B&quot; strokeWidth=&quot;6&quot; strokeLinecap=&quot;round&quot; fill=&quot;none&quot; /&gt;&#10;          &lt;path d=&quot;M50 58 C30 58 18 44 18 30 C38 30 50 42 50 58 Z&quot; fill=&quot;#2E9E5B&quot; /&gt;&#10;          &lt;path d=&quot;M50 50 C70 50 82 36 82 22 C62 22 50 34 50 50 Z&quot; fill=&quot;#7CC47F&quot; /&gt;&#10;        &lt;/svg&gt;&#10;      &lt;/Box&gt;&#10;    &lt;/Box&gt;&#10;  &lt;/Animation&gt;&#10;&#10;  &lt;Box style={{ flex: 1, flexDirection: 'row', gap: 40, alignItems: 'center', marginTop: 24 }}&gt;&#10;    &lt;Animation animType=&quot;flyIn&quot; direction=&quot;left&quot; startType=&quot;afterPrevious&quot; duration={600}&gt;&#10;      &lt;Box style={{ width: 520, borderRadius: 16, overflow: 'hidden', border: '1px solid #D8EBD2', boxShadow: '0 8px 24px rgba(46,158,91,0.12)' }}&gt;&#10;        &lt;Image src=&quot;assets/log_mine.png&quot; style={{ width: 520, height: 366, objectFit: 'cover', display: 'block' }} /&gt;&#10;      &lt;/Box&gt;&#10;    &lt;/Animation&gt;&#10;&#10;    &lt;Animation animType=&quot;fadeIn&quot; startType=&quot;afterPrevious&quot; duration={600}&gt;&#10;      &lt;Box style={{ flex: 1, flexDirection: 'column', gap: 16 }}&gt;&#10;        &lt;Box style={{ flexDirection: 'row', gap: 16, alignItems: 'flex-start' }}&gt;&#10;          &lt;Box style={{ width: 10, height: 10, borderRadius: 3, background: '#F2A33C', marginTop: 9 }} /&gt;&#10;          &lt;Box&gt;&#10;            &lt;Text style={{ fontSize: 22, fontWeight: 'bold', color: '#2B3A2B' }}&gt;图鉴&lt;/Text&gt;&#10;            &lt;Text style={{ fontSize: 18, color: '#4A5A4A', marginTop: 6, lineHeight: 1.5 }}&gt;220+ 作物卡片，收集与点亮两本账&lt;/Text&gt;&#10;          &lt;/Box&gt;&#10;        &lt;/Box&gt;&#10;        &lt;Box style={{ flexDirection: 'row', gap: 16, alignItems: 'flex-start' }}&gt;&#10;          &lt;Box style={{ width: 10, height: 10, borderRadius: 3, background: '#F2A33C', marginTop: 9 }} /&gt;&#10;          &lt;Box&gt;&#10;            &lt;Text style={{ fontSize: 22, fontWeight: 'bold', color: '#2B3A2B' }}&gt;称号&lt;/Text&gt;&#10;            &lt;Text style={{ fontSize: 18, color: '#4A5A4A', marginTop: 6, lineHeight: 1.5 }}&gt;38 个称号，按收获 / 偷菜 / 好感 / 图鉴解锁&lt;/Text&gt;&#10;          &lt;/Box&gt;&#10;        &lt;/Box&gt;&#10;        &lt;Box style={{ flexDirection: 'row', gap: 16, alignItems: 'flex-start' }}&gt;&#10;          &lt;Box style={{ width: 10, height: 10, borderRadius: 3, background: '#F2A33C', marginTop: 9 }} /&gt;&#10;          &lt;Box&gt;&#10;            &lt;Text style={{ fontSize: 22, fontWeight: 'bold', color: '#2B3A2B' }}&gt;种子制造间&lt;/Text&gt;&#10;            &lt;Text style={{ fontSize: 18, color: '#4A5A4A', marginTop: 6, lineHeight: 1.5 }}&gt;Lv.5 解锁，产出换回种子（限定不可造）&lt;/Text&gt;&#10;          &lt;/Box&gt;&#10;        &lt;/Box&gt;&#10;        &lt;Box style={{ flexDirection: 'row', gap: 16, alignItems: 'flex-start' }}&gt;&#10;          &lt;Box style={{ width: 10, height: 10, borderRadius: 3, background: '#F2A33C', marginTop: 9 }} /&gt;&#10;          &lt;Box&gt;&#10;            &lt;Text style={{ fontSize: 22, fontWeight: 'bold', color: '#2B3A2B' }}&gt;农场日志&lt;/Text&gt;&#10;            &lt;Text style={{ fontSize: 18, color: '#4A5A4A', marginTop: 6, lineHeight: 1.5 }}&gt;我的操作 / 邻居动向，鸡零狗碎都记得&lt;/Text&gt;&#10;          &lt;/Box&gt;&#10;        &lt;/Box&gt;&#10;        &lt;Box style={{ background: '#EAF5E2', borderRadius: 10, padding: '14px 18px' }}&gt;&#10;          &lt;Text style={{ fontSize: 17, color: '#2B3A2B', lineHeight: 1.5 }}&gt;把每天的小事都记下来，农场才有了烟火气。&lt;/Text&gt;&#10;        &lt;/Box&gt;&#10;      &lt;/Box&gt;&#10;    &lt;/Animation&gt;&#10;  &lt;/Box&gt;&#10;&#10;  &lt;Box style={{ marginTop: 16, paddingTop: 12, borderTop: '1px solid #E0EFD9' }}&gt;&#10;    &lt;Text style={{ fontSize: 14, color: '#6E7E6E' }}&gt;西米的农场 · 打开即玩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AEF"/>
          </a:soli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571500" y="1847850"/>
            <a:ext cx="4953000" cy="3486150"/>
          </a:xfrm>
          <a:prstGeom prst="roundRect">
            <a:avLst>
              <a:gd name="adj" fmla="val 4372"/>
            </a:avLst>
          </a:prstGeom>
          <a:ln w="12700">
            <a:solidFill>
              <a:srgbClr val="D8EBD2"/>
            </a:solidFill>
            <a:prstDash val="solid"/>
          </a:ln>
          <a:effectLst>
            <a:outerShdw blurRad="228600" dist="76200" dir="5400000">
              <a:srgbClr val="2E9E5B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218" name=""/>
          <p:cNvPicPr>
            <a:picLocks noChangeAspect="1"/>
          </p:cNvPicPr>
          <p:nvPr/>
        </p:nvPicPr>
        <p:blipFill>
          <a:blip r:embed="rId1"/>
          <a:srcRect l="51" t="0" r="51" b="0"/>
          <a:stretch>
            <a:fillRect/>
          </a:stretch>
        </p:blipFill>
        <p:spPr>
          <a:xfrm rot="0" flipH="0" flipV="0">
            <a:off x="571500" y="1847850"/>
            <a:ext cx="4953000" cy="3486150"/>
          </a:xfrm>
          <a:custGeom>
            <a:pathLst>
              <a:path w="520" h="366">
                <a:moveTo>
                  <a:pt x="504" y="0"/>
                </a:moveTo>
                <a:cubicBezTo>
                  <a:pt x="513" y="0"/>
                  <a:pt x="520" y="7"/>
                  <a:pt x="520" y="16"/>
                </a:cubicBezTo>
                <a:lnTo>
                  <a:pt x="520" y="350"/>
                </a:lnTo>
                <a:cubicBezTo>
                  <a:pt x="520" y="359"/>
                  <a:pt x="513" y="366"/>
                  <a:pt x="504" y="366"/>
                </a:cubicBezTo>
                <a:lnTo>
                  <a:pt x="16" y="366"/>
                </a:lnTo>
                <a:cubicBezTo>
                  <a:pt x="7" y="366"/>
                  <a:pt x="0" y="359"/>
                  <a:pt x="0" y="3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504" y="0"/>
                </a:lnTo>
                <a:close/>
              </a:path>
            </a:pathLst>
          </a:custGeom>
          <a:ln/>
        </p:spPr>
      </p:pic>
      <p:sp>
        <p:nvSpPr>
          <p:cNvPr id="219" name=""/>
          <p:cNvSpPr/>
          <p:nvPr/>
        </p:nvSpPr>
        <p:spPr>
          <a:xfrm rot="0" flipH="0" flipV="0">
            <a:off x="5905500" y="183832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2A33C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153150" y="1752600"/>
            <a:ext cx="2714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图鉴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153150" y="2066925"/>
            <a:ext cx="27146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220+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作物卡片，收集与点亮两本账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5905500" y="26193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2A33C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153150" y="2533650"/>
            <a:ext cx="3352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称号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153150" y="2847975"/>
            <a:ext cx="3352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38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个称号，按收获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偷菜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好感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图鉴解锁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5905500" y="340042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2A33C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153150" y="3314700"/>
            <a:ext cx="3095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种子制造间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153150" y="3629025"/>
            <a:ext cx="30956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Lv.5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解锁，产出换回种子（限定不可造）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5905500" y="41814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2A33C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153150" y="4095750"/>
            <a:ext cx="2924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B3A2B"/>
                </a:solidFill>
                <a:latin typeface="Microsoft YaHei"/>
                <a:ea typeface="Microsoft YaHei"/>
              </a:rPr>
              <a:t>农场日志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153150" y="4410075"/>
            <a:ext cx="29241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我的操作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邻居动向，鸡零狗碎都记得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5905500" y="4876800"/>
            <a:ext cx="5715000" cy="561975"/>
          </a:xfrm>
          <a:prstGeom prst="roundRect">
            <a:avLst>
              <a:gd name="adj" fmla="val 16949"/>
            </a:avLst>
          </a:prstGeom>
          <a:solidFill>
            <a:srgbClr val="EAF5E2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076950" y="5010150"/>
            <a:ext cx="5372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2B3A2B"/>
                </a:solidFill>
                <a:latin typeface="Microsoft YaHei"/>
                <a:ea typeface="Microsoft YaHei"/>
              </a:rPr>
              <a:t>把每天的小事都记下来，农场才有了烟火气。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571500" y="6000750"/>
            <a:ext cx="11049000" cy="295275"/>
          </a:xfrm>
          <a:custGeom>
            <a:pathLst>
              <a:path w="1160" h="31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0EFD9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71500" y="6124575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7E6E"/>
                </a:solidFill>
                <a:latin typeface="Microsoft YaHei"/>
                <a:ea typeface="Microsoft YaHei"/>
              </a:rPr>
              <a:t>西米的农场</a:t>
            </a:r>
            <a:r>
              <a:rPr lang="en-US" sz="1050">
                <a:solidFill>
                  <a:srgbClr val="6E7E6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E7E6E"/>
                </a:solidFill>
                <a:latin typeface="Microsoft YaHei"/>
                <a:ea typeface="Microsoft YaHei"/>
              </a:rPr>
              <a:t>打开即玩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E9E5B"/>
                </a:solidFill>
                <a:latin typeface="Microsoft YaHei"/>
                <a:ea typeface="Microsoft YaHei"/>
              </a:rPr>
              <a:t>图鉴</a:t>
            </a:r>
            <a:r>
              <a:rPr lang="en-US" sz="2550" b="1">
                <a:solidFill>
                  <a:srgbClr val="2E9E5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2E9E5B"/>
                </a:solidFill>
                <a:latin typeface="Microsoft YaHei"/>
                <a:ea typeface="Microsoft YaHei"/>
              </a:rPr>
              <a:t>称号</a:t>
            </a:r>
            <a:r>
              <a:rPr lang="en-US" sz="2550" b="1">
                <a:solidFill>
                  <a:srgbClr val="2E9E5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2E9E5B"/>
                </a:solidFill>
                <a:latin typeface="Microsoft YaHei"/>
                <a:ea typeface="Microsoft YaHei"/>
              </a:rPr>
              <a:t>记录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p/>
        </p:txBody>
      </p:sp>
      <p:pic>
        <p:nvPicPr>
          <p:cNvPr id="237" name="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201400" y="571500"/>
            <a:ext cx="419100" cy="419100"/>
          </a:xfrm>
          <a:prstGeom prst="rect">
            <a:avLst/>
          </a:prstGeom>
          <a:ln/>
        </p:spPr>
      </p:pic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5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6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presetID="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2" dur="6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3" dur="6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6" dur="6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9" dur="6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2" dur="6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5" dur="6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8" dur="6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1" dur="6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4" dur="6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7" dur="6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0" dur="6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3" dur="6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6" dur="6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9" dur="6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2" dur="6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593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5" dur="6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6" dur="6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597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9" dur="6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" name="" descr="&lt;Slide style={{ padding: 60, background: '#F4FAEF', display: 'flex', flexDirection: 'column' }}&gt;&#10;  &lt;Animation animType=&quot;fadeIn&quot; duration={500}&gt;&#10;    &lt;Box style={{ position: 'relative' }}&gt;&#10;      &lt;Text style={{ fontSize: 34, fontWeight: 'bold', color: '#2E9E5B' }}&gt;技术也很轻&lt;/Text&gt;&#10;      &lt;Box style={{ width: '100%', height: 1, background: '#2E9E5B', marginTop: 14 }} /&gt;&#10;      &lt;Box style={{ position: 'absolute', top: 0, right: 0, width: 44, height: 44, opacity: 0.9 }}&gt;&#10;        &lt;svg width=&quot;44&quot; height=&quot;44&quot; viewBox=&quot;0 0 100 100&quot;&gt;&#10;          &lt;path d=&quot;M50 94 V40&quot; stroke=&quot;#2E9E5B&quot; strokeWidth=&quot;6&quot; strokeLinecap=&quot;round&quot; fill=&quot;none&quot; /&gt;&#10;          &lt;path d=&quot;M50 58 C30 58 18 44 18 30 C38 30 50 42 50 58 Z&quot; fill=&quot;#2E9E5B&quot; /&gt;&#10;          &lt;path d=&quot;M50 50 C70 50 82 36 82 22 C62 22 50 34 50 50 Z&quot; fill=&quot;#7CC47F&quot; /&gt;&#10;        &lt;/svg&gt;&#10;      &lt;/Box&gt;&#10;    &lt;/Box&gt;&#10;  &lt;/Animation&gt;&#10;&#10;  &lt;Animation animType=&quot;fadeIn&quot; startType=&quot;afterPrevious&quot; duration={600}&gt;&#10;    &lt;Box style={{ flex: 1, flexDirection: 'row', gap: 28, alignItems: 'stretch', marginTop: 26 }}&gt;&#10;      &lt;Box style={{ flex: 1, background: '#FFFFFF', borderRadius: 16, border: '1px solid #E0EFD9', padding: 28, flexDirection: 'column', gap: 14 }}&gt;&#10;        &lt;Box style={{ width: 56, height: 56, borderRadius: 14, background: '#EAF5E2', alignItems: 'center', justifyContent: 'center' }}&gt;&#10;          &lt;svg width=&quot;30&quot; height=&quot;30&quot; viewBox=&quot;0 0 24 24&quot; fill=&quot;none&quot; stroke=&quot;#2E9E5B&quot; strokeWidth=&quot;2.4&quot; strokeLinecap=&quot;round&quot; strokeLinejoin=&quot;round&quot;&gt;&lt;path d=&quot;M8 8 L4 12 L8 16&quot; /&gt;&lt;path d=&quot;M16 8 L20 12 L16 16&quot; /&gt;&lt;/svg&gt;&#10;        &lt;/Box&gt;&#10;        &lt;Text style={{ fontSize: 24, fontWeight: 'bold', color: '#2B3A2B' }}&gt;零构建&lt;/Text&gt;&#10;        &lt;Text style={{ fontSize: 18, color: '#4A5A4A', lineHeight: 1.6 }}&gt;原生 ESM + IndexedDB，打开网页就能跑，改完刷新即生效。&lt;/Text&gt;&#10;      &lt;/Box&gt;&#10;      &lt;Box style={{ flex: 1, background: '#FFFFFF', borderRadius: 16, border: '1px solid #E0EFD9', padding: 28, flexDirection: 'column', gap: 14 }}&gt;&#10;        &lt;Box style={{ width: 56, height: 56, borderRadius: 14, background: '#EAF5E2', alignItems: 'center', justifyContent: 'center' }}&gt;&#10;          &lt;svg width=&quot;30&quot; height=&quot;30&quot; viewBox=&quot;0 0 24 24&quot; fill=&quot;none&quot; stroke=&quot;#2E9E5B&quot; strokeWidth=&quot;2.2&quot; strokeLinecap=&quot;round&quot; strokeLinejoin=&quot;round&quot;&gt;&lt;path d=&quot;M12 4 V14&quot; /&gt;&lt;path d=&quot;M8 10 L12 14 L16 10&quot; /&gt;&lt;path d=&quot;M5 19 H19&quot; /&gt;&lt;/svg&gt;&#10;        &lt;/Box&gt;&#10;        &lt;Text style={{ fontSize: 24, fontWeight: 'bold', color: '#2B3A2B' }}&gt;可离线&lt;/Text&gt;&#10;        &lt;Text style={{ fontSize: 18, color: '#4A5A4A', lineHeight: 1.6 }}&gt;支持 PWA，添加到主屏幕就能离线游玩，不被 7 天清理坑。&lt;/Text&gt;&#10;      &lt;/Box&gt;&#10;      &lt;Box style={{ flex: 1, background: '#FFFFFF', borderRadius: 16, border: '1px solid #E0EFD9', padding: 28, flexDirection: 'column', gap: 14 }}&gt;&#10;        &lt;Box style={{ width: 56, height: 56, borderRadius: 14, background: '#EAF5E2', alignItems: 'center', justifyContent: 'center' }}&gt;&#10;          &lt;svg width=&quot;30&quot; height=&quot;30&quot; viewBox=&quot;0 0 24 24&quot; fill=&quot;none&quot; stroke=&quot;#2E9E5B&quot; strokeWidth=&quot;2.2&quot; strokeLinecap=&quot;round&quot; strokeLinejoin=&quot;round&quot;&gt;&lt;path d=&quot;M3 9 A12 12 0 0 1 21 9&quot; /&gt;&lt;path d=&quot;M6 12.5 A8 8 0 0 1 18 12.5&quot; /&gt;&lt;circle cx=&quot;12&quot; cy=&quot;17&quot; r=&quot;1.6&quot; fill=&quot;#2E9E5B&quot; stroke=&quot;none&quot; /&gt;&lt;/svg&gt;&#10;        &lt;/Box&gt;&#10;        &lt;Text style={{ fontSize: 24, fontWeight: 'bold', color: '#2B3A2B' }}&gt;能联机&lt;/Text&gt;&#10;        &lt;Text style={{ fontSize: 18, color: '#4A5A4A', lineHeight: 1.6 }}&gt;同 WiFi 填相同村镇名，和朋友见面（WebRTC P2P）。&lt;/Text&gt;&#10;      &lt;/Box&gt;&#10;    &lt;/Box&gt;&#10;  &lt;/Animation&gt;&#10;&#10;  &lt;Box style={{ marginTop: 16, paddingTop: 12, borderTop: '1px solid #E0EFD9', flexDirection: 'row', justifyContent: 'space-between' }}&gt;&#10;    &lt;Text style={{ fontSize: 14, color: '#6E7E6E' }}&gt;西米的农场 · 打开即玩&lt;/Text&gt;&#10;    &lt;Text style={{ fontSize: 14, color: '#6E7E6E' }}&gt;开发者友好：npm run check 一行静态校验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AEF"/>
          </a:solidFill>
          <a:ln/>
        </p:spPr>
        <p:txBody>
          <a:bodyPr/>
          <a:p/>
        </p:txBody>
      </p:sp>
      <p:sp>
        <p:nvSpPr>
          <p:cNvPr id="12" name=""/>
          <p:cNvSpPr/>
          <p:nvPr/>
        </p:nvSpPr>
        <p:spPr>
          <a:xfrm rot="0" flipH="0" flipV="0">
            <a:off x="571500" y="1352550"/>
            <a:ext cx="3505200" cy="44958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EFD9"/>
            </a:solidFill>
            <a:prstDash val="solid"/>
          </a:ln>
        </p:spPr>
        <p:txBody>
          <a:bodyPr/>
          <a:p/>
        </p:txBody>
      </p:sp>
      <p:sp>
        <p:nvSpPr>
          <p:cNvPr id="13" name=""/>
          <p:cNvSpPr/>
          <p:nvPr/>
        </p:nvSpPr>
        <p:spPr>
          <a:xfrm rot="0" flipH="0" flipV="0">
            <a:off x="838200" y="161925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AF5E2"/>
          </a:solidFill>
          <a:ln/>
        </p:spPr>
        <p:txBody>
          <a:bodyPr/>
          <a:p/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62025" y="1743075"/>
            <a:ext cx="285750" cy="285750"/>
          </a:xfrm>
          <a:prstGeom prst="rect">
            <a:avLst/>
          </a:prstGeom>
          <a:ln/>
        </p:spPr>
      </p:pic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38200" y="2286000"/>
            <a:ext cx="2971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B3A2B"/>
                </a:solidFill>
                <a:latin typeface="Microsoft YaHei"/>
                <a:ea typeface="Microsoft YaHei"/>
              </a:rPr>
              <a:t>零构建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38200" y="2695575"/>
            <a:ext cx="29718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原生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ESM + IndexedDB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，打开网页就能跑，改完刷新即生效。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4343400" y="1352550"/>
            <a:ext cx="3505200" cy="44958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EFD9"/>
            </a:solidFill>
            <a:prstDash val="solid"/>
          </a:ln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4610100" y="161925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AF5E2"/>
          </a:solidFill>
          <a:ln/>
        </p:spPr>
        <p:txBody>
          <a:bodyPr/>
          <a:p/>
        </p:txBody>
      </p:sp>
      <p:pic>
        <p:nvPicPr>
          <p:cNvPr id="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733925" y="1743075"/>
            <a:ext cx="285750" cy="285750"/>
          </a:xfrm>
          <a:prstGeom prst="rect">
            <a:avLst/>
          </a:prstGeom>
          <a:ln/>
        </p:spPr>
      </p:pic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4610100" y="2286000"/>
            <a:ext cx="2971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B3A2B"/>
                </a:solidFill>
                <a:latin typeface="Microsoft YaHei"/>
                <a:ea typeface="Microsoft YaHei"/>
              </a:rPr>
              <a:t>可离线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4610100" y="2695575"/>
            <a:ext cx="29718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支持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PWA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，添加到主屏幕就能离线游玩，不被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天清理坑。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8115300" y="1352550"/>
            <a:ext cx="3505200" cy="44958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EFD9"/>
            </a:solidFill>
            <a:prstDash val="solid"/>
          </a:ln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8382000" y="161925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AF5E2"/>
          </a:solidFill>
          <a:ln/>
        </p:spPr>
        <p:txBody>
          <a:bodyPr/>
          <a:p/>
        </p:txBody>
      </p:sp>
      <p:pic>
        <p:nvPicPr>
          <p:cNvPr id="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505825" y="1743075"/>
            <a:ext cx="285750" cy="285750"/>
          </a:xfrm>
          <a:prstGeom prst="rect">
            <a:avLst/>
          </a:prstGeom>
          <a:ln/>
        </p:spPr>
      </p:pic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382000" y="2286000"/>
            <a:ext cx="2971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B3A2B"/>
                </a:solidFill>
                <a:latin typeface="Microsoft YaHei"/>
                <a:ea typeface="Microsoft YaHei"/>
              </a:rPr>
              <a:t>能联机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382000" y="2695575"/>
            <a:ext cx="29718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同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 xml:space="preserve"> WiFi 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填相同村镇名，和朋友见面（</a:t>
            </a:r>
            <a:r>
              <a:rPr lang="en-US" sz="1350">
                <a:solidFill>
                  <a:srgbClr val="4A5A4A"/>
                </a:solidFill>
                <a:latin typeface="Microsoft YaHei"/>
                <a:ea typeface="Microsoft YaHei"/>
              </a:rPr>
              <a:t>WebRTC P2P</a:t>
            </a:r>
            <a:r>
              <a:rPr lang="zh-CN" sz="1350">
                <a:solidFill>
                  <a:srgbClr val="4A5A4A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571500" y="6000750"/>
            <a:ext cx="11049000" cy="295275"/>
          </a:xfrm>
          <a:custGeom>
            <a:pathLst>
              <a:path w="1160" h="31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0EFD9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71500" y="6124575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7E6E"/>
                </a:solidFill>
                <a:latin typeface="Microsoft YaHei"/>
                <a:ea typeface="Microsoft YaHei"/>
              </a:rPr>
              <a:t>西米的农场</a:t>
            </a:r>
            <a:r>
              <a:rPr lang="en-US" sz="1050">
                <a:solidFill>
                  <a:srgbClr val="6E7E6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E7E6E"/>
                </a:solidFill>
                <a:latin typeface="Microsoft YaHei"/>
                <a:ea typeface="Microsoft YaHei"/>
              </a:rPr>
              <a:t>打开即玩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9029700" y="61245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7E6E"/>
                </a:solidFill>
                <a:latin typeface="Microsoft YaHei"/>
                <a:ea typeface="Microsoft YaHei"/>
              </a:rPr>
              <a:t>开发者友好：</a:t>
            </a:r>
            <a:r>
              <a:rPr lang="en-US" sz="1050">
                <a:solidFill>
                  <a:srgbClr val="6E7E6E"/>
                </a:solidFill>
                <a:latin typeface="Microsoft YaHei"/>
                <a:ea typeface="Microsoft YaHei"/>
              </a:rPr>
              <a:t xml:space="preserve">npm run check </a:t>
            </a:r>
            <a:r>
              <a:rPr lang="zh-CN" sz="1050">
                <a:solidFill>
                  <a:srgbClr val="6E7E6E"/>
                </a:solidFill>
                <a:latin typeface="Microsoft YaHei"/>
                <a:ea typeface="Microsoft YaHei"/>
              </a:rPr>
              <a:t>一行静态校验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E9E5B"/>
                </a:solidFill>
                <a:latin typeface="Microsoft YaHei"/>
                <a:ea typeface="Microsoft YaHei"/>
              </a:rPr>
              <a:t>技术也很轻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p/>
        </p:txBody>
      </p:sp>
      <p:pic>
        <p:nvPicPr>
          <p:cNvPr id="32" name="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1201400" y="571500"/>
            <a:ext cx="419100" cy="419100"/>
          </a:xfrm>
          <a:prstGeom prst="rect">
            <a:avLst/>
          </a:prstGeom>
          <a:ln/>
        </p:spPr>
      </p:pic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3" name="" descr="&lt;Slide style={{ background: 'linear-gradient(155deg, #2E9E5B 0%, #3FB56B 55%, #57C277 100%)', padding: 60, display: 'flex', flexDirection: 'column', alignItems: 'center', justifyContent: 'center' }}&gt;&#10;  &lt;Animation animType=&quot;zoom&quot; duration={700}&gt;&#10;    &lt;Box style={{ width: 130, height: 130, alignItems: 'center', justifyContent: 'center', marginBottom: 14 }}&gt;&#10;      &lt;svg width=&quot;120&quot; height=&quot;120&quot; viewBox=&quot;0 0 100 100&quot;&gt;&#10;        &lt;path d=&quot;M50 94 V44&quot; stroke=&quot;#FFFFFF&quot; strokeWidth=&quot;5&quot; strokeLinecap=&quot;round&quot; fill=&quot;none&quot; /&gt;&#10;        &lt;path d=&quot;M50 60 C28 60 16 45 16 30 C36 30 50 43 50 60 Z&quot; fill=&quot;#FFFFFF&quot; /&gt;&#10;        &lt;path d=&quot;M50 52 C72 52 84 37 84 22 C64 22 50 35 50 52 Z&quot; fill=&quot;#FFFFFF&quot; /&gt;&#10;        &lt;circle cx=&quot;50&quot; cy=&quot;44&quot; r=&quot;5&quot; fill=&quot;#F2A33C&quot; /&gt;&#10;      &lt;/svg&gt;&#10;    &lt;/Box&gt;&#10;  &lt;/Animation&gt;&#10;&#10;  &lt;Animation animType=&quot;fadeIn&quot; startType=&quot;afterPrevious&quot; duration={700}&gt;&#10;    &lt;Text style={{ fontSize: 66, fontWeight: 'bold', color: '#FFFFFF', textShadow: '2px 3px 12px rgba(0,0,0,0.18)', textAlign: 'center', lineHeight: 1.25, letterSpacing: 3 }}&gt;打开就能玩，&lt;br /&gt;关掉接着玩&lt;/Text&gt;&#10;  &lt;/Animation&gt;&#10;&#10;  &lt;Animation animType=&quot;fadeIn&quot; startType=&quot;afterPrevious&quot; duration={700}&gt;&#10;    &lt;Box style={{ width: 300, height: 1, background: 'rgba(255,255,255,0.6)', margin: '30px 0' }} /&gt;&#10;  &lt;/Animation&gt;&#10;&#10;  &lt;Animation animType=&quot;fadeIn&quot; startType=&quot;afterPrevious&quot; duration={700}&gt;&#10;    &lt;Text style={{ fontSize: 26, color: '#F0FBF1', opacity: 0.95, textAlign: 'center', letterSpacing: 2 }}&gt;你的农场，一直都在那里等你。&lt;/Text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E9E5B"/>
              </a:gs>
              <a:gs pos="55000">
                <a:srgbClr val="3FB56B"/>
              </a:gs>
              <a:gs pos="100000">
                <a:srgbClr val="57C277"/>
              </a:gs>
            </a:gsLst>
            <a:lin ang="3900000" scaled="1"/>
          </a:gradFill>
          <a:ln/>
        </p:spPr>
        <p:txBody>
          <a:bodyPr/>
          <a:p/>
        </p:txBody>
      </p:sp>
      <p:pic>
        <p:nvPicPr>
          <p:cNvPr id="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524500" y="1409700"/>
            <a:ext cx="1143000" cy="1143000"/>
          </a:xfrm>
          <a:prstGeom prst="rect">
            <a:avLst/>
          </a:prstGeom>
          <a:ln/>
        </p:spPr>
      </p:pic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124325" y="2733675"/>
            <a:ext cx="3943350" cy="1885950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4950" b="1" spc="225">
                <a:solidFill>
                  <a:srgbClr val="FFFFFF"/>
                </a:solidFill>
                <a:effectLst>
                  <a:outerShdw blurRad="114300" dist="34342" dir="3378595">
                    <a:srgbClr val="000000">
                      <a:alpha val="18000"/>
                    </a:srgbClr>
                  </a:outerShdw>
                </a:effectLst>
                <a:latin typeface="Microsoft YaHei"/>
                <a:ea typeface="Microsoft YaHei"/>
              </a:rPr>
              <a:t>打开就能玩，</a:t>
            </a:r>
            <a:endParaRPr/>
          </a:p>
          <a:p>
            <a:pPr algn="ctr">
              <a:lnSpc>
                <a:spcPct val="125000"/>
              </a:lnSpc>
            </a:pPr>
            <a:r>
              <a:rPr lang="zh-CN" sz="4950" b="1" spc="225">
                <a:solidFill>
                  <a:srgbClr val="FFFFFF"/>
                </a:solidFill>
                <a:effectLst>
                  <a:outerShdw blurRad="114300" dist="34342" dir="3378595">
                    <a:srgbClr val="000000">
                      <a:alpha val="18000"/>
                    </a:srgbClr>
                  </a:outerShdw>
                </a:effectLst>
                <a:latin typeface="Microsoft YaHei"/>
                <a:ea typeface="Microsoft YaHei"/>
              </a:rPr>
              <a:t>关掉接着玩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667250" y="4905375"/>
            <a:ext cx="2857500" cy="9525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229100" y="5200650"/>
            <a:ext cx="373380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950" spc="150">
                <a:solidFill>
                  <a:srgbClr val="F0FBF1">
                    <a:alpha val="95000"/>
                  </a:srgbClr>
                </a:solidFill>
                <a:latin typeface="Microsoft YaHei"/>
                <a:ea typeface="Microsoft YaHei"/>
              </a:rPr>
              <a:t>你的农场，一直都在那里等你。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81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84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87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9" name="" descr="&lt;Slide style={{ background: 'linear-gradient(155deg, #2E9E5B 0%, #3FB56B 55%, #57C277 100%)', padding: 60, display: 'flex', flexDirection: 'column', alignItems: 'center', justifyContent: 'center' }}&gt;&#10;  &lt;Animation animType=&quot;zoom&quot; duration={700}&gt;&#10;    &lt;Box style={{ width: 140, height: 140, alignItems: 'center', justifyContent: 'center', marginBottom: 12 }}&gt;&#10;      &lt;svg width=&quot;124&quot; height=&quot;124&quot; viewBox=&quot;0 0 100 100&quot;&gt;&#10;        &lt;path d=&quot;M50 94 V44&quot; stroke=&quot;#FFFFFF&quot; strokeWidth=&quot;5&quot; strokeLinecap=&quot;round&quot; fill=&quot;none&quot; /&gt;&#10;        &lt;path d=&quot;M50 60 C28 60 16 45 16 30 C36 30 50 43 50 60 Z&quot; fill=&quot;#FFFFFF&quot; /&gt;&#10;        &lt;path d=&quot;M50 52 C72 52 84 37 84 22 C64 22 50 35 50 52 Z&quot; fill=&quot;#FFFFFF&quot; /&gt;&#10;        &lt;circle cx=&quot;50&quot; cy=&quot;44&quot; r=&quot;5&quot; fill=&quot;#F2A33C&quot; /&gt;&#10;      &lt;/svg&gt;&#10;    &lt;/Box&gt;&#10;  &lt;/Animation&gt;&#10;&#10;  &lt;Animation animType=&quot;fadeIn&quot; startType=&quot;afterPrevious&quot; duration={600}&gt;&#10;    &lt;Text style={{ fontSize: 72, fontWeight: 'bold', color: '#FFFFFF', textShadow: '2px 3px 10px rgba(0,0,0,0.18)', letterSpacing: 4 }}&gt;西米的农场&lt;/Text&gt;&#10;  &lt;/Animation&gt;&#10;&#10;  &lt;Animation animType=&quot;fadeIn&quot; startType=&quot;afterPrevious&quot; duration={600}&gt;&#10;    &lt;Text style={{ fontSize: 26, color: '#F0FBF1', opacity: 0.96, marginTop: 16, textAlign: 'center', letterSpacing: 2 }}&gt;现在就打开浏览器，种下你的第一颗种子。&lt;/Text&gt;&#10;  &lt;/Animation&gt;&#10;&#10;  &lt;Animation animType=&quot;fadeIn&quot; startType=&quot;afterPrevious&quot; duration={600}&gt;&#10;    &lt;Box style={{ marginTop: 38, padding: '14px 34px', borderRadius: 999, background: '#FFFFFF' }}&gt;&#10;      &lt;Text style={{ fontSize: 22, fontWeight: 'bold', color: '#2E9E5B', letterSpacing: 2 }}&gt;打开即玩 · 无需下载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E9E5B"/>
              </a:gs>
              <a:gs pos="55000">
                <a:srgbClr val="3FB56B"/>
              </a:gs>
              <a:gs pos="100000">
                <a:srgbClr val="57C277"/>
              </a:gs>
            </a:gsLst>
            <a:lin ang="3900000" scaled="1"/>
          </a:gradFill>
          <a:ln/>
        </p:spPr>
        <p:txBody>
          <a:bodyPr/>
          <a:p/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505450" y="1695450"/>
            <a:ext cx="1181100" cy="1181100"/>
          </a:xfrm>
          <a:prstGeom prst="rect">
            <a:avLst/>
          </a:prstGeom>
          <a:ln/>
        </p:spPr>
      </p:pic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4286250" y="3067050"/>
            <a:ext cx="36195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400" b="1" spc="300">
                <a:solidFill>
                  <a:srgbClr val="FFFFFF"/>
                </a:solidFill>
                <a:effectLst>
                  <a:outerShdw blurRad="95250" dist="34342" dir="3378595">
                    <a:srgbClr val="000000">
                      <a:alpha val="18000"/>
                    </a:srgbClr>
                  </a:outerShdw>
                </a:effectLst>
                <a:latin typeface="Microsoft YaHei"/>
                <a:ea typeface="Microsoft YaHei"/>
              </a:rPr>
              <a:t>西米的农场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4724400" y="4714875"/>
            <a:ext cx="2752725" cy="523875"/>
          </a:xfrm>
          <a:prstGeom prst="roundRect">
            <a:avLst>
              <a:gd name="adj" fmla="val 181636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048250" y="4848225"/>
            <a:ext cx="2105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150">
                <a:solidFill>
                  <a:srgbClr val="2E9E5B"/>
                </a:solidFill>
                <a:latin typeface="Microsoft YaHei"/>
                <a:ea typeface="Microsoft YaHei"/>
              </a:rPr>
              <a:t>打开即玩</a:t>
            </a:r>
            <a:r>
              <a:rPr lang="en-US" sz="1650" b="1" spc="150">
                <a:solidFill>
                  <a:srgbClr val="2E9E5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 spc="150">
                <a:solidFill>
                  <a:srgbClr val="2E9E5B"/>
                </a:solidFill>
                <a:latin typeface="Microsoft YaHei"/>
                <a:ea typeface="Microsoft YaHei"/>
              </a:rPr>
              <a:t>无需下载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3562350" y="4048125"/>
            <a:ext cx="506730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950" spc="150">
                <a:solidFill>
                  <a:srgbClr val="F0FBF1">
                    <a:alpha val="96000"/>
                  </a:srgbClr>
                </a:solidFill>
                <a:latin typeface="Microsoft YaHei"/>
                <a:ea typeface="Microsoft YaHei"/>
              </a:rPr>
              <a:t>现在就打开浏览器，种下你的第一颗种子。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9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100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103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2026-10-27T11:13:37Z</dcterms:created>
  <dcterms:modified xsi:type="dcterms:W3CDTF">2026-10-27T11:13:37Z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{"AIGC":{"Label":"1","ContentProducer":"00119111010856365494821B355","ProduceID":"01a17b465b157062bf0638b126068fae","ReservedCode1":"","ContentPropagator":"00119111010856365494821B355","PropagateID":"01a17b465b157062bf0638b126068fae","ReservedCode2":""}}</vt:lpwstr>
  </property>
</Properties>
</file>